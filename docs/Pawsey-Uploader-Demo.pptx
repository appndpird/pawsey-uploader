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PAWSEY ACACIA · RESEARCH DATA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8229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14263B"/>
                </a:solidFill>
                <a:latin typeface="Segoe UI Semibold"/>
              </a:rPr>
              <a:t>Pawsey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14263B"/>
                </a:solidFill>
                <a:latin typeface="Segoe UI Semibold"/>
              </a:rPr>
              <a:t>Uploader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7680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5B6B7C"/>
                </a:solidFill>
                <a:latin typeface="Segoe UI"/>
              </a:rPr>
              <a:t>Move your research data into Pawsey object storage — safely, with progress, an audit trail, and a recycle bin. No command line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61772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/>
              <a:t>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052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Consolas"/>
              </a:rPr>
              <a:t>YOUR PC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5047488"/>
            <a:ext cx="2743200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4983480"/>
            <a:ext cx="146304" cy="146304"/>
          </a:xfrm>
          <a:prstGeom prst="ellipse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34640" y="4983480"/>
            <a:ext cx="146304" cy="146304"/>
          </a:xfrm>
          <a:prstGeom prst="ellipse">
            <a:avLst/>
          </a:prstGeom>
          <a:solidFill>
            <a:srgbClr val="127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4983480"/>
            <a:ext cx="146304" cy="146304"/>
          </a:xfrm>
          <a:prstGeom prst="ellipse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461772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C96E12"/>
                </a:solidFill>
              </a:rPr>
              <a:t>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6052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Consolas"/>
              </a:rPr>
              <a:t>PAWSEY ACACIA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Consolas"/>
              </a:rPr>
              <a:t>Version </a:t>
            </a:r>
            <a:r>
              <a:rPr sz="1200" b="1">
                <a:solidFill>
                  <a:srgbClr val="C96E12"/>
                </a:solidFill>
                <a:latin typeface="Consolas"/>
              </a:rPr>
              <a:t>1.4</a:t>
            </a:r>
            <a:r>
              <a:rPr sz="1200" b="0">
                <a:solidFill>
                  <a:srgbClr val="5B6B7C"/>
                </a:solidFill>
                <a:latin typeface="Consolas"/>
              </a:rPr>
              <a:t>   ·   DPIRD   ·   Demo &amp; end-user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01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21424"/>
            <a:ext cx="812779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WHY THIS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rclone's power, with guard 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507492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C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84832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6392D"/>
                </a:solidFill>
                <a:latin typeface="Segoe UI Semibold"/>
              </a:rPr>
              <a:t>Raw command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4526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6392D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One mistyped flag and </a:t>
            </a:r>
            <a:r>
              <a:rPr sz="1250" b="0">
                <a:solidFill>
                  <a:srgbClr val="106E7B"/>
                </a:solidFill>
                <a:latin typeface="Consolas"/>
              </a:rPr>
              <a:t>sync</a:t>
            </a:r>
            <a:r>
              <a:rPr sz="1350" b="0">
                <a:solidFill>
                  <a:srgbClr val="2D3E52"/>
                </a:solidFill>
                <a:latin typeface="Segoe UI"/>
              </a:rPr>
              <a:t> </a:t>
            </a:r>
            <a:r>
              <a:rPr sz="1400" b="1">
                <a:solidFill>
                  <a:srgbClr val="14263B"/>
                </a:solidFill>
                <a:latin typeface="Segoe UI"/>
              </a:rPr>
              <a:t>deletes</a:t>
            </a:r>
            <a:r>
              <a:rPr sz="1350" b="0">
                <a:solidFill>
                  <a:srgbClr val="2D3E52"/>
                </a:solidFill>
                <a:latin typeface="Segoe UI"/>
              </a:rPr>
              <a:t> data on Pawsey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6392D"/>
                </a:solidFill>
                <a:latin typeface="Segoe UI"/>
              </a:rPr>
              <a:t>▪  </a:t>
            </a:r>
            <a:r>
              <a:rPr sz="1400" b="0">
                <a:solidFill>
                  <a:srgbClr val="2D3E52"/>
                </a:solidFill>
                <a:latin typeface="Segoe UI"/>
              </a:rPr>
              <a:t>No prompt, no progress bar, no undo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6392D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Nothing records </a:t>
            </a:r>
            <a:r>
              <a:rPr sz="1400" b="1">
                <a:solidFill>
                  <a:srgbClr val="14263B"/>
                </a:solidFill>
                <a:latin typeface="Segoe UI"/>
              </a:rPr>
              <a:t>what</a:t>
            </a:r>
            <a:r>
              <a:rPr sz="1350" b="0">
                <a:solidFill>
                  <a:srgbClr val="2D3E52"/>
                </a:solidFill>
                <a:latin typeface="Segoe UI"/>
              </a:rPr>
              <a:t> you transferred or </a:t>
            </a:r>
            <a:r>
              <a:rPr sz="1400" b="1">
                <a:solidFill>
                  <a:srgbClr val="14263B"/>
                </a:solidFill>
                <a:latin typeface="Segoe UI"/>
              </a:rPr>
              <a:t>why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6392D"/>
                </a:solidFill>
                <a:latin typeface="Segoe UI"/>
              </a:rPr>
              <a:t>▪  </a:t>
            </a:r>
            <a:r>
              <a:rPr sz="1400" b="0">
                <a:solidFill>
                  <a:srgbClr val="2D3E52"/>
                </a:solidFill>
                <a:latin typeface="Segoe UI"/>
              </a:rPr>
              <a:t>A dropped connection means starting 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07492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2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84832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E8B52"/>
                </a:solidFill>
                <a:latin typeface="Segoe UI Semibold"/>
              </a:rPr>
              <a:t>Pawsey Uploader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88920"/>
            <a:ext cx="4526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8B52"/>
                </a:solidFill>
                <a:latin typeface="Segoe UI"/>
              </a:rPr>
              <a:t>▪  </a:t>
            </a:r>
            <a:r>
              <a:rPr sz="1400" b="1">
                <a:solidFill>
                  <a:srgbClr val="14263B"/>
                </a:solidFill>
                <a:latin typeface="Segoe UI"/>
              </a:rPr>
              <a:t>Copy</a:t>
            </a:r>
            <a:r>
              <a:rPr sz="1350" b="0">
                <a:solidFill>
                  <a:srgbClr val="2D3E52"/>
                </a:solidFill>
                <a:latin typeface="Segoe UI"/>
              </a:rPr>
              <a:t> is the safe default — it never deletes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8B52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Live progress, a </a:t>
            </a:r>
            <a:r>
              <a:rPr sz="1400" b="1">
                <a:solidFill>
                  <a:srgbClr val="14263B"/>
                </a:solidFill>
                <a:latin typeface="Segoe UI"/>
              </a:rPr>
              <a:t>recycle bin</a:t>
            </a:r>
            <a:r>
              <a:rPr sz="1350" b="0">
                <a:solidFill>
                  <a:srgbClr val="2D3E52"/>
                </a:solidFill>
                <a:latin typeface="Segoe UI"/>
              </a:rPr>
              <a:t>, and a delete safety cap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8B52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Every transfer needs a </a:t>
            </a:r>
            <a:r>
              <a:rPr sz="1400" b="1">
                <a:solidFill>
                  <a:srgbClr val="14263B"/>
                </a:solidFill>
                <a:latin typeface="Segoe UI"/>
              </a:rPr>
              <a:t>note</a:t>
            </a:r>
            <a:r>
              <a:rPr sz="1350" b="0">
                <a:solidFill>
                  <a:srgbClr val="2D3E52"/>
                </a:solidFill>
                <a:latin typeface="Segoe UI"/>
              </a:rPr>
              <a:t> → permanent audit log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E8B52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Crash-resilient: </a:t>
            </a:r>
            <a:r>
              <a:rPr sz="1400" b="1">
                <a:solidFill>
                  <a:srgbClr val="14263B"/>
                </a:solidFill>
                <a:latin typeface="Segoe UI"/>
              </a:rPr>
              <a:t>resume</a:t>
            </a:r>
            <a:r>
              <a:rPr sz="1350" b="0">
                <a:solidFill>
                  <a:srgbClr val="2D3E52"/>
                </a:solidFill>
                <a:latin typeface="Segoe UI"/>
              </a:rPr>
              <a:t> any interrupted transfer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02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821424"/>
            <a:ext cx="1625559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Six tabs, one job 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204825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7C8B"/>
                </a:solidFill>
                <a:latin typeface="Consolas"/>
              </a:rPr>
              <a:t>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3957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4263B"/>
                </a:solidFill>
                <a:latin typeface="Segoe UI Semibold"/>
              </a:rPr>
              <a:t>Move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85292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Segoe UI"/>
              </a:rPr>
              <a:t>Pick a folder, a destination, a mode, write a note, hit Start.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04825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7C8B"/>
                </a:solidFill>
                <a:latin typeface="Consolas"/>
              </a:rPr>
              <a:t>BUCKETS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3957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4263B"/>
                </a:solidFill>
                <a:latin typeface="Segoe UI Semibold"/>
              </a:rPr>
              <a:t>Containers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85292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Segoe UI"/>
              </a:rPr>
              <a:t>Create or delete the top-level buckets your data lives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2984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4825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7C8B"/>
                </a:solidFill>
                <a:latin typeface="Consolas"/>
              </a:rP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23957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4263B"/>
                </a:solidFill>
                <a:latin typeface="Segoe UI Semibold"/>
              </a:rPr>
              <a:t>File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85292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Segoe UI"/>
              </a:rPr>
              <a:t>Browse Pawsey, upload, download, rename / move, recycle bin.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58768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07822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7C8B"/>
                </a:solidFill>
                <a:latin typeface="Consolas"/>
              </a:rPr>
              <a:t>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44256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4263B"/>
                </a:solidFill>
                <a:latin typeface="Segoe UI Semibold"/>
              </a:rPr>
              <a:t>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882896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Segoe UI"/>
              </a:rPr>
              <a:t>Every transfer and action, with your notes and final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858768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407822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7C8B"/>
                </a:solidFill>
                <a:latin typeface="Consolas"/>
              </a:rPr>
              <a:t>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4256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4263B"/>
                </a:solidFill>
                <a:latin typeface="Segoe UI Semibold"/>
              </a:rPr>
              <a:t>Connection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882896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Segoe UI"/>
              </a:rPr>
              <a:t>Your Pawsey keys, defaults, and performance tuning.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72984" y="3858768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407822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7C8B"/>
                </a:solidFill>
                <a:latin typeface="Consolas"/>
              </a:rPr>
              <a:t>HELP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44256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4263B"/>
                </a:solidFill>
                <a:latin typeface="Segoe UI Semibold"/>
              </a:rPr>
              <a:t>In-app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4882896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Segoe UI"/>
              </a:rPr>
              <a:t>The full manual, always one click away inside the 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03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821424"/>
            <a:ext cx="2438339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ONE-TIME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Connect to Pawsey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55648"/>
            <a:ext cx="5669280" cy="42378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" y="18379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18379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18379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486400" cy="38903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06662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C"/>
                </a:solidFill>
                <a:latin typeface="Consolas"/>
              </a:rPr>
              <a:t>» Settings tab — credentials shown redacted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DO THIS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Paste your </a:t>
            </a:r>
            <a:r>
              <a:rPr sz="1450" b="1">
                <a:solidFill>
                  <a:srgbClr val="14263B"/>
                </a:solidFill>
                <a:latin typeface="Segoe UI"/>
              </a:rPr>
              <a:t>Access key ID</a:t>
            </a:r>
            <a:r>
              <a:rPr sz="1350" b="0">
                <a:solidFill>
                  <a:srgbClr val="2D3E52"/>
                </a:solidFill>
                <a:latin typeface="Segoe UI"/>
              </a:rPr>
              <a:t> and </a:t>
            </a:r>
            <a:r>
              <a:rPr sz="1450" b="1">
                <a:solidFill>
                  <a:srgbClr val="14263B"/>
                </a:solidFill>
                <a:latin typeface="Segoe UI"/>
              </a:rPr>
              <a:t>Secret access 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Endpoint defaults to </a:t>
            </a:r>
            <a:r>
              <a:rPr sz="1250" b="0">
                <a:solidFill>
                  <a:srgbClr val="106E7B"/>
                </a:solidFill>
                <a:latin typeface="Consolas"/>
              </a:rPr>
              <a:t>projects.pawsey.org.au</a:t>
            </a:r>
            <a:r>
              <a:rPr sz="1350" b="0">
                <a:solidFill>
                  <a:srgbClr val="2D3E52"/>
                </a:solidFill>
                <a:latin typeface="Segoe UI"/>
              </a:rPr>
              <a:t> — leave it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Click </a:t>
            </a:r>
            <a:r>
              <a:rPr sz="1450" b="1">
                <a:solidFill>
                  <a:srgbClr val="14263B"/>
                </a:solidFill>
                <a:latin typeface="Segoe UI"/>
              </a:rPr>
              <a:t>Save &amp; apply to rclone</a:t>
            </a:r>
            <a:r>
              <a:rPr sz="1350" b="0">
                <a:solidFill>
                  <a:srgbClr val="2D3E52"/>
                </a:solidFill>
                <a:latin typeface="Segoe UI"/>
              </a:rPr>
              <a:t>, then </a:t>
            </a:r>
            <a:r>
              <a:rPr sz="1450" b="1">
                <a:solidFill>
                  <a:srgbClr val="14263B"/>
                </a:solidFill>
                <a:latin typeface="Segoe UI"/>
              </a:rPr>
              <a:t>Test connection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Set your usual </a:t>
            </a:r>
            <a:r>
              <a:rPr sz="1450" b="1">
                <a:solidFill>
                  <a:srgbClr val="14263B"/>
                </a:solidFill>
                <a:latin typeface="Segoe UI"/>
              </a:rPr>
              <a:t>default bucket</a:t>
            </a:r>
            <a:r>
              <a:rPr sz="1350" b="0">
                <a:solidFill>
                  <a:srgbClr val="2D3E52"/>
                </a:solidFill>
                <a:latin typeface="Segoe UI"/>
              </a:rPr>
              <a:t> &amp; </a:t>
            </a:r>
            <a:r>
              <a:rPr sz="1450" b="1">
                <a:solidFill>
                  <a:srgbClr val="14263B"/>
                </a:solidFill>
                <a:latin typeface="Segoe UI"/>
              </a:rPr>
              <a:t>source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02920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Segoe UI"/>
              </a:rPr>
              <a:t>Keys disabled? A </a:t>
            </a:r>
            <a:r>
              <a:rPr sz="1150" b="0">
                <a:solidFill>
                  <a:srgbClr val="106E7B"/>
                </a:solidFill>
                <a:latin typeface="Consolas"/>
              </a:rPr>
              <a:t>403 UserSuspended</a:t>
            </a:r>
            <a:r>
              <a:rPr sz="1200" b="0">
                <a:solidFill>
                  <a:srgbClr val="5B6B7C"/>
                </a:solidFill>
                <a:latin typeface="Segoe UI"/>
              </a:rPr>
              <a:t> means Pawsey turned your keys off — email help@pawsey.org.au. No app setting can fix that.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04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21424"/>
            <a:ext cx="3251118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THE KEY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Which mode should I use?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83080"/>
          <a:ext cx="1060704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828800"/>
                <a:gridCol w="2011680"/>
                <a:gridCol w="4937760"/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6B7C"/>
                          </a:solidFill>
                          <a:latin typeface="Consolas"/>
                        </a:rPr>
                        <a:t>Mode</a:t>
                      </a:r>
                    </a:p>
                  </a:txBody>
                  <a:tcPr anchor="ctr" marL="146304" marR="109728" marT="54864" marB="54864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6B7C"/>
                          </a:solidFill>
                          <a:latin typeface="Consolas"/>
                        </a:rPr>
                        <a:t>Direction</a:t>
                      </a:r>
                    </a:p>
                  </a:txBody>
                  <a:tcPr anchor="ctr" marL="146304" marR="109728" marT="54864" marB="54864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6B7C"/>
                          </a:solidFill>
                          <a:latin typeface="Consolas"/>
                        </a:rPr>
                        <a:t>Deletes?</a:t>
                      </a:r>
                    </a:p>
                  </a:txBody>
                  <a:tcPr anchor="ctr" marL="146304" marR="109728" marT="54864" marB="54864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6B7C"/>
                          </a:solidFill>
                          <a:latin typeface="Consolas"/>
                        </a:rPr>
                        <a:t>Use it when…</a:t>
                      </a:r>
                    </a:p>
                  </a:txBody>
                  <a:tcPr anchor="ctr" marL="146304" marR="109728" marT="54864" marB="54864">
                    <a:solidFill>
                      <a:srgbClr val="ECF1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2E8B52"/>
                          </a:solidFill>
                          <a:latin typeface="Consolas"/>
                        </a:rPr>
                        <a:t>Copy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50">
                          <a:solidFill>
                            <a:srgbClr val="2D3E52"/>
                          </a:solidFill>
                          <a:latin typeface="Segoe UI"/>
                        </a:rPr>
                        <a:t>PC → Pawsey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2E8B52"/>
                          </a:solidFill>
                          <a:latin typeface="Consolas"/>
                        </a:rPr>
                        <a:t>Never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>
                          <a:solidFill>
                            <a:srgbClr val="2D3E52"/>
                          </a:solidFill>
                          <a:latin typeface="Segoe UI"/>
                        </a:rPr>
                        <a:t>First upload, or adding new data to an archive. Safe default.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C6392D"/>
                          </a:solidFill>
                          <a:latin typeface="Consolas"/>
                        </a:rPr>
                        <a:t>Mirror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50">
                          <a:solidFill>
                            <a:srgbClr val="2D3E52"/>
                          </a:solidFill>
                          <a:latin typeface="Segoe UI"/>
                        </a:rPr>
                        <a:t>PC → Pawsey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C6392D"/>
                          </a:solidFill>
                          <a:latin typeface="Consolas"/>
                        </a:rPr>
                        <a:t>Yes, on Pawsey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>
                          <a:solidFill>
                            <a:srgbClr val="2D3E52"/>
                          </a:solidFill>
                          <a:latin typeface="Segoe UI"/>
                        </a:rPr>
                        <a:t>You want Pawsey to be an exact copy of your folder right now.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127C8B"/>
                          </a:solidFill>
                          <a:latin typeface="Consolas"/>
                        </a:rPr>
                        <a:t>Two-way sync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50">
                          <a:solidFill>
                            <a:srgbClr val="2D3E52"/>
                          </a:solidFill>
                          <a:latin typeface="Segoe UI"/>
                        </a:rPr>
                        <a:t>PC ⇄ Pawsey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7C8B"/>
                          </a:solidFill>
                          <a:latin typeface="Consolas"/>
                        </a:rPr>
                        <a:t>Both sides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>
                          <a:solidFill>
                            <a:srgbClr val="2D3E52"/>
                          </a:solidFill>
                          <a:latin typeface="Segoe UI"/>
                        </a:rPr>
                        <a:t>You work from more than one machine and want them kept identical, OneDrive-style.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5B6B7C"/>
                          </a:solidFill>
                          <a:latin typeface="Consolas"/>
                        </a:rPr>
                        <a:t>Resume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50">
                          <a:solidFill>
                            <a:srgbClr val="2D3E52"/>
                          </a:solidFill>
                          <a:latin typeface="Segoe UI"/>
                        </a:rPr>
                        <a:t>continue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5B6B7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>
                          <a:solidFill>
                            <a:srgbClr val="2D3E52"/>
                          </a:solidFill>
                          <a:latin typeface="Segoe UI"/>
                        </a:rPr>
                        <a:t>A previous transfer was interrupted and you want to finish it.</a:t>
                      </a:r>
                    </a:p>
                  </a:txBody>
                  <a:tcPr anchor="ctr" marL="146304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2578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B7C"/>
                </a:solidFill>
                <a:latin typeface="Segoe UI"/>
              </a:rPr>
              <a:t>Rule of thumb: </a:t>
            </a:r>
            <a:r>
              <a:rPr sz="1600" b="1">
                <a:solidFill>
                  <a:srgbClr val="C96E12"/>
                </a:solidFill>
                <a:latin typeface="Segoe UI"/>
              </a:rPr>
              <a:t>start with Copy.</a:t>
            </a:r>
            <a:r>
              <a:rPr sz="1600" b="0">
                <a:solidFill>
                  <a:srgbClr val="5B6B7C"/>
                </a:solidFill>
                <a:latin typeface="Segoe UI"/>
              </a:rPr>
              <a:t> Only reach for Mirror or Two-way sync when you specifically need deletions to propagate — and keep the recycle bin on when you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05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21424"/>
            <a:ext cx="4063898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4590288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E8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8288" bIns="18288"/>
          <a:lstStyle/>
          <a:p>
            <a:pPr algn="ctr"/>
            <a:r>
              <a:rPr sz="1100" b="1">
                <a:solidFill>
                  <a:srgbClr val="2E8B52"/>
                </a:solidFill>
                <a:latin typeface="Consolas"/>
              </a:rPr>
              <a:t>COPY · ONE-WAY, ADDITIVE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14263B"/>
                </a:solidFill>
                <a:latin typeface="Segoe UI Semibold"/>
              </a:rPr>
              <a:t>Scenario 1 — First upload &amp; archiving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01368"/>
            <a:ext cx="5669280" cy="42378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" y="188366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188366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188366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transfer_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5486400" cy="38903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09406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C"/>
                </a:solidFill>
                <a:latin typeface="Consolas"/>
              </a:rPr>
              <a:t>» Transfer tab · Mode = Copy (one-way, additive)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WHEN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04288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D3E52"/>
                </a:solidFill>
                <a:latin typeface="Segoe UI"/>
              </a:rPr>
              <a:t>You're sending data to Pawsey for the </a:t>
            </a:r>
            <a:r>
              <a:rPr sz="1450" b="1">
                <a:solidFill>
                  <a:srgbClr val="14263B"/>
                </a:solidFill>
                <a:latin typeface="Segoe UI"/>
              </a:rPr>
              <a:t>first time</a:t>
            </a:r>
            <a:r>
              <a:rPr sz="1350" b="0">
                <a:solidFill>
                  <a:srgbClr val="2D3E52"/>
                </a:solidFill>
                <a:latin typeface="Segoe UI"/>
              </a:rPr>
              <a:t>, or topping up an existing archive. Copy only ever </a:t>
            </a:r>
            <a:r>
              <a:rPr sz="1450" b="1">
                <a:solidFill>
                  <a:srgbClr val="14263B"/>
                </a:solidFill>
                <a:latin typeface="Segoe UI"/>
              </a:rPr>
              <a:t>adds and updates</a:t>
            </a:r>
            <a:r>
              <a:rPr sz="1350" b="0">
                <a:solidFill>
                  <a:srgbClr val="2D3E52"/>
                </a:solidFill>
                <a:latin typeface="Segoe UI"/>
              </a:rPr>
              <a:t> — it never removes anything on Pawsey, so you can't lose data with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7763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BEFORE YOU CLICK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70832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2E8B52"/>
                </a:solidFill>
                <a:latin typeface="Segoe UI"/>
              </a:rPr>
              <a:t>✓  </a:t>
            </a:r>
            <a:r>
              <a:rPr sz="1350" b="0">
                <a:solidFill>
                  <a:srgbClr val="2D3E52"/>
                </a:solidFill>
                <a:latin typeface="Segoe UI"/>
              </a:rPr>
              <a:t>Source folder is correct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2E8B52"/>
                </a:solidFill>
                <a:latin typeface="Segoe UI"/>
              </a:rPr>
              <a:t>✓  </a:t>
            </a:r>
            <a:r>
              <a:rPr sz="1350" b="0">
                <a:solidFill>
                  <a:srgbClr val="2D3E52"/>
                </a:solidFill>
                <a:latin typeface="Segoe UI"/>
              </a:rPr>
              <a:t>The blue “Files will be placed under…” line points where you expect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2E8B52"/>
                </a:solidFill>
                <a:latin typeface="Segoe UI"/>
              </a:rPr>
              <a:t>✓  </a:t>
            </a:r>
            <a:r>
              <a:rPr sz="1350" b="0">
                <a:solidFill>
                  <a:srgbClr val="2D3E52"/>
                </a:solidFill>
                <a:latin typeface="Segoe UI"/>
              </a:rPr>
              <a:t>You've written a </a:t>
            </a:r>
            <a:r>
              <a:rPr sz="1350" b="1">
                <a:solidFill>
                  <a:srgbClr val="14263B"/>
                </a:solidFill>
                <a:latin typeface="Segoe UI"/>
              </a:rPr>
              <a:t>note</a:t>
            </a:r>
            <a:r>
              <a:rPr sz="1350" b="0">
                <a:solidFill>
                  <a:srgbClr val="2D3E52"/>
                </a:solidFill>
                <a:latin typeface="Segoe UI"/>
              </a:rPr>
              <a:t> (required)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98932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B7C"/>
                </a:solidFill>
                <a:latin typeface="Segoe UI"/>
              </a:rPr>
              <a:t>Renamed a file? Copy can't tell — it uploads the new name and leaves the old one too. Use Mirror or Two-way for renames.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06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21424"/>
            <a:ext cx="4876678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4425696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C639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8288" bIns="18288"/>
          <a:lstStyle/>
          <a:p>
            <a:pPr algn="ctr"/>
            <a:r>
              <a:rPr sz="1100" b="1">
                <a:solidFill>
                  <a:srgbClr val="C6392D"/>
                </a:solidFill>
                <a:latin typeface="Consolas"/>
              </a:rPr>
              <a:t>MIRROR · ONE-WAY, EXACT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14263B"/>
                </a:solidFill>
                <a:latin typeface="Segoe UI Semibold"/>
              </a:rPr>
              <a:t>Scenario 2 — Make Pawsey match exactly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01368"/>
            <a:ext cx="5669280" cy="42378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" y="188366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188366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188366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transfer_mi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5486400" cy="38903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09406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C"/>
                </a:solidFill>
                <a:latin typeface="Consolas"/>
              </a:rPr>
              <a:t>» Transfer tab · Mode = Mirror (one-way, exact)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WHEN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04288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D3E52"/>
                </a:solidFill>
                <a:latin typeface="Segoe UI"/>
              </a:rPr>
              <a:t>You want Pawsey to become an </a:t>
            </a:r>
            <a:r>
              <a:rPr sz="1450" b="1">
                <a:solidFill>
                  <a:srgbClr val="14263B"/>
                </a:solidFill>
                <a:latin typeface="Segoe UI"/>
              </a:rPr>
              <a:t>exact replica</a:t>
            </a:r>
            <a:r>
              <a:rPr sz="1350" b="0">
                <a:solidFill>
                  <a:srgbClr val="2D3E52"/>
                </a:solidFill>
                <a:latin typeface="Segoe UI"/>
              </a:rPr>
              <a:t> of your local folder — including removing files on Pawsey you've deleted locally. Good for publishing a cleaned-up, final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7763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BEFORE YOU CLICK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70832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2E8B52"/>
                </a:solidFill>
                <a:latin typeface="Segoe UI"/>
              </a:rPr>
              <a:t>✓  </a:t>
            </a:r>
            <a:r>
              <a:rPr sz="1350" b="1">
                <a:solidFill>
                  <a:srgbClr val="14263B"/>
                </a:solidFill>
                <a:latin typeface="Segoe UI"/>
              </a:rPr>
              <a:t>Recycle bin</a:t>
            </a:r>
            <a:r>
              <a:rPr sz="1350" b="0">
                <a:solidFill>
                  <a:srgbClr val="2D3E52"/>
                </a:solidFill>
                <a:latin typeface="Segoe UI"/>
              </a:rPr>
              <a:t> ticked — deleted files move to </a:t>
            </a:r>
            <a:r>
              <a:rPr sz="1250" b="0">
                <a:solidFill>
                  <a:srgbClr val="106E7B"/>
                </a:solidFill>
                <a:latin typeface="Consolas"/>
              </a:rPr>
              <a:t>_recycle_bin/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2E8B52"/>
                </a:solidFill>
                <a:latin typeface="Segoe UI"/>
              </a:rPr>
              <a:t>✓  </a:t>
            </a:r>
            <a:r>
              <a:rPr sz="1350" b="0">
                <a:solidFill>
                  <a:srgbClr val="2D3E52"/>
                </a:solidFill>
                <a:latin typeface="Segoe UI"/>
              </a:rPr>
              <a:t>Leave the </a:t>
            </a:r>
            <a:r>
              <a:rPr sz="1350" b="1">
                <a:solidFill>
                  <a:srgbClr val="14263B"/>
                </a:solidFill>
                <a:latin typeface="Segoe UI"/>
              </a:rPr>
              <a:t>delete safety cap</a:t>
            </a:r>
            <a:r>
              <a:rPr sz="1350" b="0">
                <a:solidFill>
                  <a:srgbClr val="2D3E52"/>
                </a:solidFill>
                <a:latin typeface="Segoe UI"/>
              </a:rPr>
              <a:t> 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2E8B52"/>
                </a:solidFill>
                <a:latin typeface="Segoe UI"/>
              </a:rPr>
              <a:t>✓  </a:t>
            </a:r>
            <a:r>
              <a:rPr sz="1350" b="1">
                <a:solidFill>
                  <a:srgbClr val="14263B"/>
                </a:solidFill>
                <a:latin typeface="Segoe UI"/>
              </a:rPr>
              <a:t>Detect renamed/moved files</a:t>
            </a:r>
            <a:r>
              <a:rPr sz="1350" b="0">
                <a:solidFill>
                  <a:srgbClr val="2D3E52"/>
                </a:solidFill>
                <a:latin typeface="Segoe UI"/>
              </a:rPr>
              <a:t> on → no re-upload of renames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98932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6392D"/>
                </a:solidFill>
                <a:latin typeface="Segoe UI"/>
              </a:rPr>
              <a:t>Mirror </a:t>
            </a:r>
            <a:r>
              <a:rPr sz="1150" b="1">
                <a:solidFill>
                  <a:srgbClr val="C6392D"/>
                </a:solidFill>
                <a:latin typeface="Segoe UI"/>
              </a:rPr>
              <a:t>deletes</a:t>
            </a:r>
            <a:r>
              <a:rPr sz="1150" b="0">
                <a:solidFill>
                  <a:srgbClr val="C6392D"/>
                </a:solidFill>
                <a:latin typeface="Segoe UI"/>
              </a:rPr>
              <a:t> anything on Pawsey not in your source. The app lists what will be removed and makes you confirm.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07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21424"/>
            <a:ext cx="5689457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5413248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27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8288" bIns="18288"/>
          <a:lstStyle/>
          <a:p>
            <a:pPr algn="ctr"/>
            <a:r>
              <a:rPr sz="1100" b="1">
                <a:solidFill>
                  <a:srgbClr val="127C8B"/>
                </a:solidFill>
                <a:latin typeface="Consolas"/>
              </a:rPr>
              <a:t>TWO-WAY SYNC · ONEDRIVE-STYLE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14263B"/>
                </a:solidFill>
                <a:latin typeface="Segoe UI Semibold"/>
              </a:rPr>
              <a:t>Scenario 3 — Keep both sides in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01368"/>
            <a:ext cx="5669280" cy="42378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" y="188366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188366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188366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transfer_bi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5486400" cy="38903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09406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C"/>
                </a:solidFill>
                <a:latin typeface="Consolas"/>
              </a:rPr>
              <a:t>» Transfer tab · Mode = Two-way sync (bisync)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WHEN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04288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D3E52"/>
                </a:solidFill>
                <a:latin typeface="Segoe UI"/>
              </a:rPr>
              <a:t>You add, edit or delete files on </a:t>
            </a:r>
            <a:r>
              <a:rPr sz="1450" b="1">
                <a:solidFill>
                  <a:srgbClr val="14263B"/>
                </a:solidFill>
                <a:latin typeface="Segoe UI"/>
              </a:rPr>
              <a:t>either</a:t>
            </a:r>
            <a:r>
              <a:rPr sz="1350" b="0">
                <a:solidFill>
                  <a:srgbClr val="2D3E52"/>
                </a:solidFill>
                <a:latin typeface="Segoe UI"/>
              </a:rPr>
              <a:t> side — laptop, office PC, or Pawsey — and want every change to flow both ways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7763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70832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The </a:t>
            </a:r>
            <a:r>
              <a:rPr sz="1350" b="1">
                <a:solidFill>
                  <a:srgbClr val="14263B"/>
                </a:solidFill>
                <a:latin typeface="Segoe UI"/>
              </a:rPr>
              <a:t>first run builds a baseline</a:t>
            </a:r>
            <a:r>
              <a:rPr sz="1350" b="0">
                <a:solidFill>
                  <a:srgbClr val="2D3E52"/>
                </a:solidFill>
                <a:latin typeface="Segoe UI"/>
              </a:rPr>
              <a:t> (local wins clashes); then both sides are equal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Always use the </a:t>
            </a:r>
            <a:r>
              <a:rPr sz="1350" b="1">
                <a:solidFill>
                  <a:srgbClr val="14263B"/>
                </a:solidFill>
                <a:latin typeface="Segoe UI"/>
              </a:rPr>
              <a:t>same folder + same Pawsey path</a:t>
            </a:r>
            <a:r>
              <a:rPr sz="1350" b="0">
                <a:solidFill>
                  <a:srgbClr val="2D3E52"/>
                </a:solidFill>
                <a:latin typeface="Segoe UI"/>
              </a:rPr>
              <a:t> per project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Tick </a:t>
            </a:r>
            <a:r>
              <a:rPr sz="1350" b="1">
                <a:solidFill>
                  <a:srgbClr val="14263B"/>
                </a:solidFill>
                <a:latin typeface="Segoe UI"/>
              </a:rPr>
              <a:t>Auto-sync every N min</a:t>
            </a:r>
            <a:r>
              <a:rPr sz="1350" b="0">
                <a:solidFill>
                  <a:srgbClr val="2D3E52"/>
                </a:solidFill>
                <a:latin typeface="Segoe UI"/>
              </a:rPr>
              <a:t> to keep it running OneDrive-style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Set </a:t>
            </a:r>
            <a:r>
              <a:rPr sz="1350" b="1">
                <a:solidFill>
                  <a:srgbClr val="14263B"/>
                </a:solidFill>
                <a:latin typeface="Segoe UI"/>
              </a:rPr>
              <a:t>conflict resolution</a:t>
            </a:r>
            <a:r>
              <a:rPr sz="1350" b="0">
                <a:solidFill>
                  <a:srgbClr val="2D3E52"/>
                </a:solidFill>
                <a:latin typeface="Segoe UI"/>
              </a:rPr>
              <a:t> for files changed on both sides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08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21424"/>
            <a:ext cx="6502237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3273552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B6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8288" bIns="18288"/>
          <a:lstStyle/>
          <a:p>
            <a:pPr algn="ctr"/>
            <a:r>
              <a:rPr sz="1100" b="1">
                <a:solidFill>
                  <a:srgbClr val="5B6B7C"/>
                </a:solidFill>
                <a:latin typeface="Consolas"/>
              </a:rPr>
              <a:t>RESUME PREVIOUS…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14263B"/>
                </a:solidFill>
                <a:latin typeface="Segoe UI Semibold"/>
              </a:rPr>
              <a:t>Scenario 4 — It got interrupted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507492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4263B"/>
                </a:solidFill>
                <a:latin typeface="Segoe UI Semibold"/>
              </a:rPr>
              <a:t>What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45262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450" b="0">
                <a:solidFill>
                  <a:srgbClr val="2D3E52"/>
                </a:solidFill>
                <a:latin typeface="Segoe UI"/>
              </a:rPr>
              <a:t>Reopen the app after a crash, reboot, or dropped link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Transfer tab → choose </a:t>
            </a:r>
            <a:r>
              <a:rPr sz="1450" b="1">
                <a:solidFill>
                  <a:srgbClr val="14263B"/>
                </a:solidFill>
                <a:latin typeface="Segoe UI"/>
              </a:rPr>
              <a:t>Resume previous…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450" b="0">
                <a:solidFill>
                  <a:srgbClr val="2D3E52"/>
                </a:solidFill>
                <a:latin typeface="Segoe UI"/>
              </a:rPr>
              <a:t>Pick the transfer from the list (last 50 are remembered)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Click </a:t>
            </a:r>
            <a:r>
              <a:rPr sz="1450" b="1">
                <a:solidFill>
                  <a:srgbClr val="14263B"/>
                </a:solidFill>
                <a:latin typeface="Segoe UI"/>
              </a:rPr>
              <a:t>Start</a:t>
            </a:r>
            <a:r>
              <a:rPr sz="1350" b="0">
                <a:solidFill>
                  <a:srgbClr val="2D3E52"/>
                </a:solidFill>
                <a:latin typeface="Segoe UI"/>
              </a:rPr>
              <a:t> — rclone skips files already uploaded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07492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9D2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C96E12"/>
                </a:solidFill>
                <a:latin typeface="Segoe UI Semibold"/>
              </a:rPr>
              <a:t>It often resumes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45262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C96E12"/>
                </a:solidFill>
                <a:latin typeface="Segoe UI"/>
              </a:rPr>
              <a:t>▪  </a:t>
            </a:r>
            <a:r>
              <a:rPr sz="1450" b="1">
                <a:solidFill>
                  <a:srgbClr val="14263B"/>
                </a:solidFill>
                <a:latin typeface="Segoe UI"/>
              </a:rPr>
              <a:t>Auto-restart</a:t>
            </a:r>
            <a:r>
              <a:rPr sz="1350" b="0">
                <a:solidFill>
                  <a:srgbClr val="2D3E52"/>
                </a:solidFill>
                <a:latin typeface="Segoe UI"/>
              </a:rPr>
              <a:t> on a network blip — up to 10 tries with backoff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C96E12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Stops cleanly on </a:t>
            </a:r>
            <a:r>
              <a:rPr sz="1450" b="1">
                <a:solidFill>
                  <a:srgbClr val="14263B"/>
                </a:solidFill>
                <a:latin typeface="Segoe UI"/>
              </a:rPr>
              <a:t>real</a:t>
            </a:r>
            <a:r>
              <a:rPr sz="1350" b="0">
                <a:solidFill>
                  <a:srgbClr val="2D3E52"/>
                </a:solidFill>
                <a:latin typeface="Segoe UI"/>
              </a:rPr>
              <a:t> errors (bad keys, missing bucket)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C96E12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Keeps your PC </a:t>
            </a:r>
            <a:r>
              <a:rPr sz="1450" b="1">
                <a:solidFill>
                  <a:srgbClr val="14263B"/>
                </a:solidFill>
                <a:latin typeface="Segoe UI"/>
              </a:rPr>
              <a:t>awake</a:t>
            </a:r>
            <a:r>
              <a:rPr sz="1350" b="0">
                <a:solidFill>
                  <a:srgbClr val="2D3E52"/>
                </a:solidFill>
                <a:latin typeface="Segoe UI"/>
              </a:rPr>
              <a:t> while a transfer runs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C96E12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A </a:t>
            </a:r>
            <a:r>
              <a:rPr sz="1450" b="1">
                <a:solidFill>
                  <a:srgbClr val="14263B"/>
                </a:solidFill>
                <a:latin typeface="Segoe UI"/>
              </a:rPr>
              <a:t>heartbeat file</a:t>
            </a:r>
            <a:r>
              <a:rPr sz="1350" b="0">
                <a:solidFill>
                  <a:srgbClr val="2D3E52"/>
                </a:solidFill>
                <a:latin typeface="Segoe UI"/>
              </a:rPr>
              <a:t> lets you check it's alive elsewhere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09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821424"/>
            <a:ext cx="7315017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SYNC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Your safety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20665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Segoe UI Semibold"/>
              </a:rPr>
              <a:t>If files differ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57860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Keep newer, keep both, or let local / Pawsey win when the same file changed on both sides.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0665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Segoe UI Semibold"/>
              </a:rPr>
              <a:t>Recycle bin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257860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Deleted &amp; overwritten files move to _recycle_bin/ in the bucket — built-in version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72984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9016" y="20665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Segoe UI Semibold"/>
              </a:rPr>
              <a:t>Delete safety 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6" y="257860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Abort a two-way sync that would delete more than N% of files. Guards against accidental wipes.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58768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40965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Segoe UI Semibold"/>
              </a:rPr>
              <a:t>Require matching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608576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Blocks a sync if the source name ≠ destination name. Stops the wrong project syncing to the wrong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858768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40965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Segoe UI Semibold"/>
              </a:rPr>
              <a:t>Detect renamed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608576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Renames become server-side moves on Pawsey — no slow re-upload of huge folders.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2984" y="3858768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40965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Segoe UI Semibold"/>
              </a:rPr>
              <a:t>Verify with checksums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4608576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Compares by MD5 hash instead of size + time. Slower, but catches silent corruption.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10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821424"/>
            <a:ext cx="8127796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MANAGE WHAT'S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Buckets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BUCKETS — THE 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5029200" cy="378395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20665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" y="20665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2728" y="20665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4846320" cy="34364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78648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C"/>
                </a:solidFill>
                <a:latin typeface="Consolas"/>
              </a:rPr>
              <a:t>» Create lowercase-hyphen names · delete needs typed confirm (no undo)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STORAGE — THE FILE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84248"/>
            <a:ext cx="5029200" cy="378395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0528" y="20665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93408" y="20665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76288" y="20665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_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40280"/>
            <a:ext cx="4846320" cy="34364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578648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C"/>
                </a:solidFill>
                <a:latin typeface="Consolas"/>
              </a:rPr>
              <a:t>» Browse, upload, download · Rename / Move = TB-scale rename, no re-upload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11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21424"/>
            <a:ext cx="8940576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Nothing happens without a note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55648"/>
            <a:ext cx="5669280" cy="42378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" y="18379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18379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1837944"/>
            <a:ext cx="100584" cy="100584"/>
          </a:xfrm>
          <a:prstGeom prst="ellipse">
            <a:avLst/>
          </a:prstGeom>
          <a:solidFill>
            <a:srgbClr val="9A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486400" cy="38903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0483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C"/>
                </a:solidFill>
                <a:latin typeface="Consolas"/>
              </a:rPr>
              <a:t>» History tab — every transfer and storage action, permanently logged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6E12"/>
                </a:solidFill>
                <a:latin typeface="Consola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04288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D3E52"/>
                </a:solidFill>
                <a:latin typeface="Segoe UI"/>
              </a:rPr>
              <a:t>Every transfer, delete, rename and upload is written to a permanent log with the </a:t>
            </a:r>
            <a:r>
              <a:rPr sz="1450" b="1">
                <a:solidFill>
                  <a:srgbClr val="14263B"/>
                </a:solidFill>
                <a:latin typeface="Segoe UI"/>
              </a:rPr>
              <a:t>note you wrote</a:t>
            </a:r>
            <a:r>
              <a:rPr sz="1350" b="0">
                <a:solidFill>
                  <a:srgbClr val="2D3E52"/>
                </a:solidFill>
                <a:latin typeface="Segoe UI"/>
              </a:rPr>
              <a:t>, the source, the destination, and the final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88620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The </a:t>
            </a:r>
            <a:r>
              <a:rPr sz="1400" b="1">
                <a:solidFill>
                  <a:srgbClr val="14263B"/>
                </a:solidFill>
                <a:latin typeface="Segoe UI"/>
              </a:rPr>
              <a:t>note is mandatory</a:t>
            </a:r>
            <a:r>
              <a:rPr sz="1350" b="0">
                <a:solidFill>
                  <a:srgbClr val="2D3E52"/>
                </a:solidFill>
                <a:latin typeface="Segoe UI"/>
              </a:rPr>
              <a:t> — no note, no transfer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400" b="0">
                <a:solidFill>
                  <a:srgbClr val="2D3E52"/>
                </a:solidFill>
                <a:latin typeface="Segoe UI"/>
              </a:rPr>
              <a:t>Answers “who put this here, and why?” months later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400" b="1">
                <a:solidFill>
                  <a:srgbClr val="14263B"/>
                </a:solidFill>
                <a:latin typeface="Segoe UI"/>
              </a:rPr>
              <a:t>Open log folder</a:t>
            </a:r>
            <a:r>
              <a:rPr sz="1350" b="0">
                <a:solidFill>
                  <a:srgbClr val="2D3E52"/>
                </a:solidFill>
                <a:latin typeface="Segoe UI"/>
              </a:rPr>
              <a:t> jumps straight to the raw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12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21424"/>
            <a:ext cx="9753356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KEEP THESE IN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Seven golden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600" b="1">
                <a:solidFill>
                  <a:srgbClr val="14263B"/>
                </a:solidFill>
                <a:latin typeface="Segoe UI"/>
              </a:rPr>
              <a:t>Copy</a:t>
            </a:r>
            <a:r>
              <a:rPr sz="1350" b="0">
                <a:solidFill>
                  <a:srgbClr val="2D3E52"/>
                </a:solidFill>
                <a:latin typeface="Segoe UI"/>
              </a:rPr>
              <a:t> is the safe default — it never deletes.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Read the blue </a:t>
            </a:r>
            <a:r>
              <a:rPr sz="1600" b="1">
                <a:solidFill>
                  <a:srgbClr val="14263B"/>
                </a:solidFill>
                <a:latin typeface="Segoe UI"/>
              </a:rPr>
              <a:t>“Files will be placed under…”</a:t>
            </a:r>
            <a:r>
              <a:rPr sz="1350" b="0">
                <a:solidFill>
                  <a:srgbClr val="2D3E52"/>
                </a:solidFill>
                <a:latin typeface="Segoe UI"/>
              </a:rPr>
              <a:t> line every time.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600" b="1">
                <a:solidFill>
                  <a:srgbClr val="14263B"/>
                </a:solidFill>
                <a:latin typeface="Segoe UI"/>
              </a:rPr>
              <a:t>Mirror</a:t>
            </a:r>
            <a:r>
              <a:rPr sz="1350" b="0">
                <a:solidFill>
                  <a:srgbClr val="2D3E52"/>
                </a:solidFill>
                <a:latin typeface="Segoe UI"/>
              </a:rPr>
              <a:t> and </a:t>
            </a:r>
            <a:r>
              <a:rPr sz="1600" b="1">
                <a:solidFill>
                  <a:srgbClr val="14263B"/>
                </a:solidFill>
                <a:latin typeface="Segoe UI"/>
              </a:rPr>
              <a:t>Two-way</a:t>
            </a:r>
            <a:r>
              <a:rPr sz="1350" b="0">
                <a:solidFill>
                  <a:srgbClr val="2D3E52"/>
                </a:solidFill>
                <a:latin typeface="Segoe UI"/>
              </a:rPr>
              <a:t> can delete — keep the recycle bin 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Always write a real </a:t>
            </a:r>
            <a:r>
              <a:rPr sz="1600" b="1">
                <a:solidFill>
                  <a:srgbClr val="14263B"/>
                </a:solidFill>
                <a:latin typeface="Segoe UI"/>
              </a:rPr>
              <a:t>note</a:t>
            </a:r>
            <a:r>
              <a:rPr sz="1350" b="0">
                <a:solidFill>
                  <a:srgbClr val="2D3E52"/>
                </a:solidFill>
                <a:latin typeface="Segoe UI"/>
              </a:rPr>
              <a:t> — it's your future audit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For two-way sync, reuse the </a:t>
            </a:r>
            <a:r>
              <a:rPr sz="1600" b="1">
                <a:solidFill>
                  <a:srgbClr val="14263B"/>
                </a:solidFill>
                <a:latin typeface="Segoe UI"/>
              </a:rPr>
              <a:t>same folder &amp; path</a:t>
            </a:r>
            <a:r>
              <a:rPr sz="1350" b="0">
                <a:solidFill>
                  <a:srgbClr val="2D3E52"/>
                </a:solidFill>
                <a:latin typeface="Segoe UI"/>
              </a:rPr>
              <a:t> per project.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Renaming a big folder? Use </a:t>
            </a:r>
            <a:r>
              <a:rPr sz="1600" b="1">
                <a:solidFill>
                  <a:srgbClr val="14263B"/>
                </a:solidFill>
                <a:latin typeface="Segoe UI"/>
              </a:rPr>
              <a:t>Storage → Rename / Move</a:t>
            </a:r>
            <a:r>
              <a:rPr sz="1350" b="0">
                <a:solidFill>
                  <a:srgbClr val="2D3E52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127C8B"/>
                </a:solidFill>
                <a:latin typeface="Segoe UI"/>
              </a:rPr>
              <a:t>▪  </a:t>
            </a:r>
            <a:r>
              <a:rPr sz="1350" b="0">
                <a:solidFill>
                  <a:srgbClr val="2D3E52"/>
                </a:solidFill>
                <a:latin typeface="Segoe UI"/>
              </a:rPr>
              <a:t>Empty the </a:t>
            </a:r>
            <a:r>
              <a:rPr sz="1600" b="1">
                <a:solidFill>
                  <a:srgbClr val="14263B"/>
                </a:solidFill>
                <a:latin typeface="Segoe UI"/>
              </a:rPr>
              <a:t>recycle bin</a:t>
            </a:r>
            <a:r>
              <a:rPr sz="1350" b="0">
                <a:solidFill>
                  <a:srgbClr val="2D3E52"/>
                </a:solidFill>
                <a:latin typeface="Segoe UI"/>
              </a:rPr>
              <a:t> now and then — it counts toward quota.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13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21424"/>
            <a:ext cx="10566135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IF SOMETHING LOOKS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521208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1226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7C8B"/>
                </a:solidFill>
                <a:latin typeface="Consolas"/>
              </a:rPr>
              <a:t>rclone not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24327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D3E52"/>
                </a:solidFill>
                <a:latin typeface="Segoe UI"/>
              </a:rPr>
              <a:t>Point Settings → Path to rclone at the bundled rclone.exe, or install rclone and restart.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21208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1226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7C8B"/>
                </a:solidFill>
                <a:latin typeface="Consolas"/>
              </a:rPr>
              <a:t>403 UserSuspended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24327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D3E52"/>
                </a:solidFill>
                <a:latin typeface="Segoe UI"/>
              </a:rPr>
              <a:t>Your Pawsey keys are disabled. Email help@pawsey.org.au — no setting fixes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199"/>
            <a:ext cx="521208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12394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7C8B"/>
                </a:solidFill>
                <a:latin typeface="Consolas"/>
              </a:rPr>
              <a:t>Transfer stopped halfway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36007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D3E52"/>
                </a:solidFill>
                <a:latin typeface="Segoe UI"/>
              </a:rPr>
              <a:t>Reopen → Resume previous… → pick it → Start. Already-uploaded files are skipped.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86199"/>
            <a:ext cx="521208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2394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7C8B"/>
                </a:solidFill>
                <a:latin typeface="Consolas"/>
              </a:rPr>
              <a:t>Must run --resync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636007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D3E52"/>
                </a:solidFill>
                <a:latin typeface="Segoe UI"/>
              </a:rPr>
              <a:t>A two-way baseline was lost. Run the pair again — the app rebuilds it without losing remote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14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21424"/>
            <a:ext cx="11378915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6E12"/>
                </a:solidFill>
                <a:latin typeface="Consolas"/>
              </a:rPr>
              <a:t>—  SUGGESTED LIVE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4263B"/>
                </a:solidFill>
                <a:latin typeface="Segoe UI Semibold"/>
              </a:rPr>
              <a:t>Let's see it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700" b="1">
                <a:solidFill>
                  <a:srgbClr val="C96E12"/>
                </a:solidFill>
                <a:latin typeface="Consolas"/>
              </a:rPr>
              <a:t>1  </a:t>
            </a:r>
            <a:r>
              <a:rPr sz="1600" b="1">
                <a:solidFill>
                  <a:srgbClr val="14263B"/>
                </a:solidFill>
                <a:latin typeface="Segoe UI"/>
              </a:rPr>
              <a:t>Settings</a:t>
            </a:r>
            <a:r>
              <a:rPr sz="1350" b="0">
                <a:solidFill>
                  <a:srgbClr val="2D3E52"/>
                </a:solidFill>
                <a:latin typeface="Segoe UI"/>
              </a:rPr>
              <a:t> → Test connection (green tick)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700" b="1">
                <a:solidFill>
                  <a:srgbClr val="C96E12"/>
                </a:solidFill>
                <a:latin typeface="Consolas"/>
              </a:rPr>
              <a:t>2  </a:t>
            </a:r>
            <a:r>
              <a:rPr sz="1600" b="1">
                <a:solidFill>
                  <a:srgbClr val="14263B"/>
                </a:solidFill>
                <a:latin typeface="Segoe UI"/>
              </a:rPr>
              <a:t>Transfer</a:t>
            </a:r>
            <a:r>
              <a:rPr sz="1350" b="0">
                <a:solidFill>
                  <a:srgbClr val="2D3E52"/>
                </a:solidFill>
                <a:latin typeface="Segoe UI"/>
              </a:rPr>
              <a:t> → Copy a small folder; watch progress + note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700" b="1">
                <a:solidFill>
                  <a:srgbClr val="C96E12"/>
                </a:solidFill>
                <a:latin typeface="Consolas"/>
              </a:rPr>
              <a:t>3  </a:t>
            </a:r>
            <a:r>
              <a:rPr sz="1600" b="1">
                <a:solidFill>
                  <a:srgbClr val="14263B"/>
                </a:solidFill>
                <a:latin typeface="Segoe UI"/>
              </a:rPr>
              <a:t>Storage</a:t>
            </a:r>
            <a:r>
              <a:rPr sz="1350" b="0">
                <a:solidFill>
                  <a:srgbClr val="2D3E52"/>
                </a:solidFill>
                <a:latin typeface="Segoe UI"/>
              </a:rPr>
              <a:t> → show it landed; Rename / Move it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700" b="1">
                <a:solidFill>
                  <a:srgbClr val="C96E12"/>
                </a:solidFill>
                <a:latin typeface="Consolas"/>
              </a:rPr>
              <a:t>4  </a:t>
            </a:r>
            <a:r>
              <a:rPr sz="1600" b="1">
                <a:solidFill>
                  <a:srgbClr val="14263B"/>
                </a:solidFill>
                <a:latin typeface="Segoe UI"/>
              </a:rPr>
              <a:t>Transfer</a:t>
            </a:r>
            <a:r>
              <a:rPr sz="1350" b="0">
                <a:solidFill>
                  <a:srgbClr val="2D3E52"/>
                </a:solidFill>
                <a:latin typeface="Segoe UI"/>
              </a:rPr>
              <a:t> → Two-way sync the pair; change a file; sync again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700" b="1">
                <a:solidFill>
                  <a:srgbClr val="C96E12"/>
                </a:solidFill>
                <a:latin typeface="Consolas"/>
              </a:rPr>
              <a:t>5  </a:t>
            </a:r>
            <a:r>
              <a:rPr sz="1600" b="1">
                <a:solidFill>
                  <a:srgbClr val="14263B"/>
                </a:solidFill>
                <a:latin typeface="Segoe UI"/>
              </a:rPr>
              <a:t>History</a:t>
            </a:r>
            <a:r>
              <a:rPr sz="1350" b="0">
                <a:solidFill>
                  <a:srgbClr val="2D3E52"/>
                </a:solidFill>
                <a:latin typeface="Segoe UI"/>
              </a:rPr>
              <a:t> → show both runs logged with notes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2194560"/>
            <a:ext cx="457200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9D2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25146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96E12"/>
                </a:solidFill>
                <a:latin typeface="Consolas"/>
              </a:rPr>
              <a:t>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3017520"/>
            <a:ext cx="4023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4263B"/>
                </a:solidFill>
                <a:latin typeface="Segoe UI Semibold"/>
              </a:rPr>
              <a:t>Start with Copy. Write a note. Read the blue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4572000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Segoe UI"/>
              </a:rPr>
              <a:t>Everything else — Mirror, Two-way, the recycle bin — builds on those three habits.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263B"/>
                </a:solidFill>
                <a:latin typeface="Consolas"/>
              </a:rPr>
              <a:t>15</a:t>
            </a:r>
            <a:r>
              <a:rPr sz="1100" b="0">
                <a:solidFill>
                  <a:srgbClr val="5B6B7C"/>
                </a:solidFill>
                <a:latin typeface="Consolas"/>
              </a:rPr>
              <a:t>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C9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