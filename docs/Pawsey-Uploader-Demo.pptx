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p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1717964" cy="566928"/>
          </a:xfrm>
          <a:prstGeom prst="rect">
            <a:avLst/>
          </a:prstGeom>
        </p:spPr>
      </p:pic>
      <p:pic>
        <p:nvPicPr>
          <p:cNvPr id="4" name="Picture 3" descr="ap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1258" y="420624"/>
            <a:ext cx="2348917" cy="51206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1325880"/>
            <a:ext cx="12191695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C96E12"/>
                </a:solidFill>
                <a:latin typeface="Consolas"/>
              </a:rPr>
              <a:t>—  PAWSEY ACACIA · RESEARCH DATA 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688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14263B"/>
                </a:solidFill>
                <a:latin typeface="Segoe UI Semibold"/>
              </a:rPr>
              <a:t>Pawsey Uploader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B6B7C"/>
                </a:solidFill>
                <a:latin typeface="Segoe UI"/>
              </a:rPr>
              <a:t>Move research data to and from Pawsey Acacia object storage — safely, with live progress, an audit trail, a recycle bin, shareable links, and project-to-project transfers. No command line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B6B7C"/>
                </a:solidFill>
                <a:latin typeface="Consolas"/>
              </a:rPr>
              <a:t>Version </a:t>
            </a:r>
            <a:r>
              <a:rPr sz="1300" b="1">
                <a:solidFill>
                  <a:srgbClr val="C96E12"/>
                </a:solidFill>
                <a:latin typeface="Consolas"/>
              </a:rPr>
              <a:t>1.9</a:t>
            </a:r>
            <a:r>
              <a:rPr sz="1300" b="0">
                <a:solidFill>
                  <a:srgbClr val="5B6B7C"/>
                </a:solidFill>
                <a:latin typeface="Consolas"/>
              </a:rPr>
              <a:t>   ·   DPIRD · APPN   ·   Demo &amp; end-user guide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03136"/>
            <a:ext cx="609584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263B"/>
                </a:solidFill>
                <a:latin typeface="Consolas"/>
              </a:rPr>
              <a:t>01</a:t>
            </a:r>
            <a:r>
              <a:rPr sz="1100" b="0">
                <a:solidFill>
                  <a:srgbClr val="5B6B7C"/>
                </a:solidFill>
                <a:latin typeface="Consolas"/>
              </a:rPr>
              <a:t> /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3737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Consolas"/>
              </a:rPr>
              <a:t>Pawsey Uploader · v1.9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96E12"/>
                </a:solidFill>
                <a:latin typeface="Consolas"/>
              </a:rPr>
              <a:t>—  WHY THIS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4263B"/>
                </a:solidFill>
                <a:latin typeface="Segoe UI Semibold"/>
              </a:rPr>
              <a:t>rclone's power, with guard rails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65960"/>
            <a:ext cx="5175504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211226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Raw command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2642615"/>
            <a:ext cx="46634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One mistyped flag and sync deletes data on Pawsey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No prompt, no progress bar, no undo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Nothing records what you transferred or why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Resuming a broken transfer is on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965960"/>
            <a:ext cx="5175504" cy="4160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6E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28816" y="211226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Pawsey Uploader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8816" y="2642615"/>
            <a:ext cx="46634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Copy is the safe default — it never deletes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Live progress, a recycle bin, and a delete safety cap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Every transfer needs a note → permanent audit log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Auto-restart, resume, and background jobs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03136"/>
            <a:ext cx="1219169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263B"/>
                </a:solidFill>
                <a:latin typeface="Consolas"/>
              </a:rPr>
              <a:t>02</a:t>
            </a:r>
            <a:r>
              <a:rPr sz="1100" b="0">
                <a:solidFill>
                  <a:srgbClr val="5B6B7C"/>
                </a:solidFill>
                <a:latin typeface="Consolas"/>
              </a:rPr>
              <a:t> /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3737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Consolas"/>
              </a:rPr>
              <a:t>Pawsey Uploader · v1.9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96E12"/>
                </a:solidFill>
                <a:latin typeface="Consolas"/>
              </a:rPr>
              <a:t>—  ORIENTATION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4263B"/>
                </a:solidFill>
                <a:latin typeface="Segoe UI Semibold"/>
              </a:rPr>
              <a:t>Seven tabs, one job each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98489" y="1874519"/>
            <a:ext cx="6564541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63081" y="2011679"/>
            <a:ext cx="91440" cy="91440"/>
          </a:xfrm>
          <a:prstGeom prst="ellipse">
            <a:avLst/>
          </a:prstGeom>
          <a:solidFill>
            <a:srgbClr val="E06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118529" y="2011679"/>
            <a:ext cx="91440" cy="91440"/>
          </a:xfrm>
          <a:prstGeom prst="ellipse">
            <a:avLst/>
          </a:prstGeom>
          <a:solidFill>
            <a:srgbClr val="E6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3977" y="2011679"/>
            <a:ext cx="91440" cy="91440"/>
          </a:xfrm>
          <a:prstGeom prst="ellipse">
            <a:avLst/>
          </a:prstGeom>
          <a:solidFill>
            <a:srgbClr val="8CC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header_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5649" y="2221991"/>
            <a:ext cx="6290221" cy="3977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80160" y="636422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B6B7C"/>
                </a:solidFill>
                <a:latin typeface="Consolas"/>
              </a:rPr>
              <a:t>Transfer · Buckets · Storage · Console · History · Settings · Help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03136"/>
            <a:ext cx="1828754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263B"/>
                </a:solidFill>
                <a:latin typeface="Consolas"/>
              </a:rPr>
              <a:t>03</a:t>
            </a:r>
            <a:r>
              <a:rPr sz="1100" b="0">
                <a:solidFill>
                  <a:srgbClr val="5B6B7C"/>
                </a:solidFill>
                <a:latin typeface="Consolas"/>
              </a:rPr>
              <a:t> /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3737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Consolas"/>
              </a:rPr>
              <a:t>Pawsey Uploader · v1.9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96E12"/>
                </a:solidFill>
                <a:latin typeface="Consolas"/>
              </a:rPr>
              <a:t>—  ONE-TIME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4263B"/>
                </a:solidFill>
                <a:latin typeface="Segoe UI Semibold"/>
              </a:rPr>
              <a:t>Connect to Pawsey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65960"/>
            <a:ext cx="5175504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211226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Do this once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2642615"/>
            <a:ext cx="46634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Settings → Pawsey projects → add a project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Paste your Access key ID and Secret access key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Endpoint defaults to projects.pawsey.org.au — leave it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Save &amp; apply, then Test for a green tick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965960"/>
            <a:ext cx="5175504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28816" y="211226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Heads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8816" y="2642615"/>
            <a:ext cx="46634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403 UserSuspended → keys disabled; email help@pawsey.org.au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Keys live in your local rclone config, not the cloud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Bundled rclone is found automatically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03136"/>
            <a:ext cx="2438339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263B"/>
                </a:solidFill>
                <a:latin typeface="Consolas"/>
              </a:rPr>
              <a:t>04</a:t>
            </a:r>
            <a:r>
              <a:rPr sz="1100" b="0">
                <a:solidFill>
                  <a:srgbClr val="5B6B7C"/>
                </a:solidFill>
                <a:latin typeface="Consolas"/>
              </a:rPr>
              <a:t> /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3737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Consolas"/>
              </a:rPr>
              <a:t>Pawsey Uploader · v1.9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96E12"/>
                </a:solidFill>
                <a:latin typeface="Consolas"/>
              </a:rPr>
              <a:t>—  MANY PROJECTS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4263B"/>
                </a:solidFill>
                <a:latin typeface="Segoe UI Semibold"/>
              </a:rPr>
              <a:t>Switch between Pawsey projects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4594" y="1938528"/>
            <a:ext cx="5986130" cy="40690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09186" y="2075688"/>
            <a:ext cx="91440" cy="91440"/>
          </a:xfrm>
          <a:prstGeom prst="ellipse">
            <a:avLst/>
          </a:prstGeom>
          <a:solidFill>
            <a:srgbClr val="E06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64634" y="2075688"/>
            <a:ext cx="91440" cy="91440"/>
          </a:xfrm>
          <a:prstGeom prst="ellipse">
            <a:avLst/>
          </a:prstGeom>
          <a:solidFill>
            <a:srgbClr val="E6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20082" y="2075688"/>
            <a:ext cx="91440" cy="91440"/>
          </a:xfrm>
          <a:prstGeom prst="ellipse">
            <a:avLst/>
          </a:prstGeom>
          <a:solidFill>
            <a:srgbClr val="8CC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settings_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754" y="2286000"/>
            <a:ext cx="5711810" cy="3611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062471"/>
            <a:ext cx="6812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B6B7C"/>
                </a:solidFill>
                <a:latin typeface="Consolas"/>
              </a:rPr>
              <a:t>Settings tab · Pawsey projects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965960"/>
            <a:ext cx="372160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1" y="2112264"/>
            <a:ext cx="32095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4263B"/>
                </a:solidFill>
                <a:latin typeface="Segoe UI Semibold"/>
              </a:rPr>
              <a:t>Manage 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82711" y="2642615"/>
            <a:ext cx="3209544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Save several — each with its own keys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One is active (★); switch any time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Test or set-active in a click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Copy data between projects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803136"/>
            <a:ext cx="3047923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373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263B"/>
                </a:solidFill>
                <a:latin typeface="Consolas"/>
              </a:rPr>
              <a:t>05</a:t>
            </a:r>
            <a:r>
              <a:rPr sz="1100" b="0">
                <a:solidFill>
                  <a:srgbClr val="5B6B7C"/>
                </a:solidFill>
                <a:latin typeface="Consolas"/>
              </a:rPr>
              <a:t> / 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3737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Consolas"/>
              </a:rPr>
              <a:t>Pawsey Uploader · v1.9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96E12"/>
                </a:solidFill>
                <a:latin typeface="Consolas"/>
              </a:rPr>
              <a:t>—  THE KEY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4263B"/>
                </a:solidFill>
                <a:latin typeface="Segoe UI Semibold"/>
              </a:rPr>
              <a:t>Which mode should I use?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92024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486400"/>
                <a:gridCol w="2194560"/>
              </a:tblGrid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 Semibold"/>
                        </a:rPr>
                        <a:t>Mode</a:t>
                      </a:r>
                    </a:p>
                  </a:txBody>
                  <a:tcPr anchor="ctr" marL="137160" marR="91440">
                    <a:solidFill>
                      <a:srgbClr val="1426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137160" marR="91440">
                    <a:solidFill>
                      <a:srgbClr val="1426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 Semibold"/>
                        </a:rPr>
                        <a:t>Deletes on Pawsey?</a:t>
                      </a:r>
                    </a:p>
                  </a:txBody>
                  <a:tcPr anchor="ctr" marL="137160" marR="91440">
                    <a:solidFill>
                      <a:srgbClr val="14263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4263B"/>
                          </a:solidFill>
                          <a:latin typeface="Segoe UI Semibold"/>
                        </a:rPr>
                        <a:t>Copy (one-way, additive)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B6B7C"/>
                          </a:solidFill>
                          <a:latin typeface="Segoe UI"/>
                        </a:rPr>
                        <a:t>Adds new and changed files; never removes anything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B6B7C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4263B"/>
                          </a:solidFill>
                          <a:latin typeface="Segoe UI Semibold"/>
                        </a:rPr>
                        <a:t>Mirror (one-way, exact)</a:t>
                      </a:r>
                    </a:p>
                  </a:txBody>
                  <a:tcPr anchor="ctr" marL="137160" marR="9144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B6B7C"/>
                          </a:solidFill>
                          <a:latin typeface="Segoe UI"/>
                        </a:rPr>
                        <a:t>Makes Pawsey an exact replica of your local folder</a:t>
                      </a:r>
                    </a:p>
                  </a:txBody>
                  <a:tcPr anchor="ctr" marL="137160" marR="9144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B6B7C"/>
                          </a:solidFill>
                          <a:latin typeface="Segoe UI"/>
                        </a:rPr>
                        <a:t>Yes — preview + confirm</a:t>
                      </a:r>
                    </a:p>
                  </a:txBody>
                  <a:tcPr anchor="ctr" marL="137160" marR="91440">
                    <a:solidFill>
                      <a:srgbClr val="F4F6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4263B"/>
                          </a:solidFill>
                          <a:latin typeface="Segoe UI Semibold"/>
                        </a:rPr>
                        <a:t>Two-way sync (bisync)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B6B7C"/>
                          </a:solidFill>
                          <a:latin typeface="Segoe UI"/>
                        </a:rPr>
                        <a:t>Reconciles both sides; changes flow both directions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B6B7C"/>
                          </a:solidFill>
                          <a:latin typeface="Segoe UI"/>
                        </a:rPr>
                        <a:t>Yes — either side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4263B"/>
                          </a:solidFill>
                          <a:latin typeface="Segoe UI Semibold"/>
                        </a:rPr>
                        <a:t>Resume previous…</a:t>
                      </a:r>
                    </a:p>
                  </a:txBody>
                  <a:tcPr anchor="ctr" marL="137160" marR="9144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B6B7C"/>
                          </a:solidFill>
                          <a:latin typeface="Segoe UI"/>
                        </a:rPr>
                        <a:t>Continues an interrupted transfer; skips finished files</a:t>
                      </a:r>
                    </a:p>
                  </a:txBody>
                  <a:tcPr anchor="ctr" marL="137160" marR="9144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B6B7C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anchor="ctr" marL="137160" marR="91440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4263B"/>
                </a:solidFill>
                <a:latin typeface="Segoe UI Semibold"/>
              </a:rPr>
              <a:t>Rule of thumb:  </a:t>
            </a:r>
            <a:r>
              <a:rPr sz="1300" b="0">
                <a:solidFill>
                  <a:srgbClr val="5B6B7C"/>
                </a:solidFill>
                <a:latin typeface="Segoe UI"/>
              </a:rPr>
              <a:t>start with Copy. Reach for Mirror or Two-way only when you need deletions to propagate — and keep the recycle bin 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3657508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263B"/>
                </a:solidFill>
                <a:latin typeface="Consolas"/>
              </a:rPr>
              <a:t>06</a:t>
            </a:r>
            <a:r>
              <a:rPr sz="1100" b="0">
                <a:solidFill>
                  <a:srgbClr val="5B6B7C"/>
                </a:solidFill>
                <a:latin typeface="Consolas"/>
              </a:rPr>
              <a:t>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43737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Consolas"/>
              </a:rPr>
              <a:t>Pawsey Uploader · v1.9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96E12"/>
                </a:solidFill>
                <a:latin typeface="Consolas"/>
              </a:rPr>
              <a:t>—  COPY · ONE-WAY, ADDITIVE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4263B"/>
                </a:solidFill>
                <a:latin typeface="Segoe UI Semibold"/>
              </a:rPr>
              <a:t>Copy — first upload &amp; archiving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4594" y="1938528"/>
            <a:ext cx="5986130" cy="40690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09186" y="2075688"/>
            <a:ext cx="91440" cy="91440"/>
          </a:xfrm>
          <a:prstGeom prst="ellipse">
            <a:avLst/>
          </a:prstGeom>
          <a:solidFill>
            <a:srgbClr val="E06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64634" y="2075688"/>
            <a:ext cx="91440" cy="91440"/>
          </a:xfrm>
          <a:prstGeom prst="ellipse">
            <a:avLst/>
          </a:prstGeom>
          <a:solidFill>
            <a:srgbClr val="E6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20082" y="2075688"/>
            <a:ext cx="91440" cy="91440"/>
          </a:xfrm>
          <a:prstGeom prst="ellipse">
            <a:avLst/>
          </a:prstGeom>
          <a:solidFill>
            <a:srgbClr val="8CC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header_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754" y="2286000"/>
            <a:ext cx="5711810" cy="3611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062471"/>
            <a:ext cx="6812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B6B7C"/>
                </a:solidFill>
                <a:latin typeface="Consolas"/>
              </a:rPr>
              <a:t>Transfer tab · Copy (one-way, additive)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965960"/>
            <a:ext cx="372160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1" y="2112264"/>
            <a:ext cx="32095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4263B"/>
                </a:solidFill>
                <a:latin typeface="Segoe UI Semibold"/>
              </a:rPr>
              <a:t>Copy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82711" y="2642615"/>
            <a:ext cx="3209544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First upload, or topping up an archive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Only ever adds and updates — never deletes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Empty folders are preserved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Re-running skips files already uploaded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803136"/>
            <a:ext cx="4267093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373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263B"/>
                </a:solidFill>
                <a:latin typeface="Consolas"/>
              </a:rPr>
              <a:t>07</a:t>
            </a:r>
            <a:r>
              <a:rPr sz="1100" b="0">
                <a:solidFill>
                  <a:srgbClr val="5B6B7C"/>
                </a:solidFill>
                <a:latin typeface="Consolas"/>
              </a:rPr>
              <a:t> / 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3737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Consolas"/>
              </a:rPr>
              <a:t>Pawsey Uploader · v1.9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96E12"/>
                </a:solidFill>
                <a:latin typeface="Consolas"/>
              </a:rPr>
              <a:t>—  MIRROR · ONE-WAY, EXACT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4263B"/>
                </a:solidFill>
                <a:latin typeface="Segoe UI Semibold"/>
              </a:rPr>
              <a:t>Mirror — make Pawsey match exactly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4594" y="1938528"/>
            <a:ext cx="5986130" cy="40690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09186" y="2075688"/>
            <a:ext cx="91440" cy="91440"/>
          </a:xfrm>
          <a:prstGeom prst="ellipse">
            <a:avLst/>
          </a:prstGeom>
          <a:solidFill>
            <a:srgbClr val="E06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64634" y="2075688"/>
            <a:ext cx="91440" cy="91440"/>
          </a:xfrm>
          <a:prstGeom prst="ellipse">
            <a:avLst/>
          </a:prstGeom>
          <a:solidFill>
            <a:srgbClr val="E6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20082" y="2075688"/>
            <a:ext cx="91440" cy="91440"/>
          </a:xfrm>
          <a:prstGeom prst="ellipse">
            <a:avLst/>
          </a:prstGeom>
          <a:solidFill>
            <a:srgbClr val="8CC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transfer_mi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754" y="2286000"/>
            <a:ext cx="5711810" cy="3611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062471"/>
            <a:ext cx="6812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B6B7C"/>
                </a:solidFill>
                <a:latin typeface="Consolas"/>
              </a:rPr>
              <a:t>Transfer tab · Mirror (one-way, exact)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965960"/>
            <a:ext cx="372160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1" y="2112264"/>
            <a:ext cx="32095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4263B"/>
                </a:solidFill>
                <a:latin typeface="Segoe UI Semibold"/>
              </a:rPr>
              <a:t>Mirror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82711" y="2642615"/>
            <a:ext cx="3209544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Pawsey becomes an exact replica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Removes files you deleted locally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Dry-run preview lists deletions; you confirm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Recycle bin + delete safety cap protect you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803136"/>
            <a:ext cx="4876678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373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263B"/>
                </a:solidFill>
                <a:latin typeface="Consolas"/>
              </a:rPr>
              <a:t>08</a:t>
            </a:r>
            <a:r>
              <a:rPr sz="1100" b="0">
                <a:solidFill>
                  <a:srgbClr val="5B6B7C"/>
                </a:solidFill>
                <a:latin typeface="Consolas"/>
              </a:rPr>
              <a:t> / 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3737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Consolas"/>
              </a:rPr>
              <a:t>Pawsey Uploader · v1.9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96E12"/>
                </a:solidFill>
                <a:latin typeface="Consolas"/>
              </a:rPr>
              <a:t>—  TWO-WAY · ONEDRIVE-STYLE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4263B"/>
                </a:solidFill>
                <a:latin typeface="Segoe UI Semibold"/>
              </a:rPr>
              <a:t>Two-way sync — keep both sides equal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4594" y="1938528"/>
            <a:ext cx="5986130" cy="40690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09186" y="2075688"/>
            <a:ext cx="91440" cy="91440"/>
          </a:xfrm>
          <a:prstGeom prst="ellipse">
            <a:avLst/>
          </a:prstGeom>
          <a:solidFill>
            <a:srgbClr val="E06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64634" y="2075688"/>
            <a:ext cx="91440" cy="91440"/>
          </a:xfrm>
          <a:prstGeom prst="ellipse">
            <a:avLst/>
          </a:prstGeom>
          <a:solidFill>
            <a:srgbClr val="E6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20082" y="2075688"/>
            <a:ext cx="91440" cy="91440"/>
          </a:xfrm>
          <a:prstGeom prst="ellipse">
            <a:avLst/>
          </a:prstGeom>
          <a:solidFill>
            <a:srgbClr val="8CC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5_transfer_bisy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754" y="2286000"/>
            <a:ext cx="5711810" cy="3611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062471"/>
            <a:ext cx="6812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B6B7C"/>
                </a:solidFill>
                <a:latin typeface="Consolas"/>
              </a:rPr>
              <a:t>Transfer tab · Two-way sync (bisync)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965960"/>
            <a:ext cx="372160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1" y="2112264"/>
            <a:ext cx="32095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4263B"/>
                </a:solidFill>
                <a:latin typeface="Segoe UI Semibold"/>
              </a:rPr>
              <a:t>Two-way sync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82711" y="2642615"/>
            <a:ext cx="3209544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Changes flow both ways automatically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First run builds a baseline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Conflict rules when both sides change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Optional auto-sync every N minutes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803136"/>
            <a:ext cx="5486262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373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263B"/>
                </a:solidFill>
                <a:latin typeface="Consolas"/>
              </a:rPr>
              <a:t>09</a:t>
            </a:r>
            <a:r>
              <a:rPr sz="1100" b="0">
                <a:solidFill>
                  <a:srgbClr val="5B6B7C"/>
                </a:solidFill>
                <a:latin typeface="Consolas"/>
              </a:rPr>
              <a:t> / 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3737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Consolas"/>
              </a:rPr>
              <a:t>Pawsey Uploader · v1.9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96E12"/>
                </a:solidFill>
                <a:latin typeface="Consolas"/>
              </a:rPr>
              <a:t>—  SYNC OPTIONS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4263B"/>
                </a:solidFill>
                <a:latin typeface="Segoe UI Semibold"/>
              </a:rPr>
              <a:t>Your safety controls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74519"/>
            <a:ext cx="3453383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2020824"/>
            <a:ext cx="2941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If files differ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2551176"/>
            <a:ext cx="294131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B7C"/>
                </a:solidFill>
                <a:latin typeface="Segoe UI"/>
              </a:rPr>
              <a:t>Keep newer, keep both, or let local / Pawsey win.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7784" y="1874519"/>
            <a:ext cx="3453383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23816" y="2020824"/>
            <a:ext cx="2941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Recycle bin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3816" y="2551176"/>
            <a:ext cx="294131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B7C"/>
                </a:solidFill>
                <a:latin typeface="Segoe UI"/>
              </a:rPr>
              <a:t>Deleted &amp; overwritten files move to _recycle_bin/ — version history.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4047" y="1874519"/>
            <a:ext cx="3453383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0079" y="2020824"/>
            <a:ext cx="2941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Delete safety cap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0079" y="2551176"/>
            <a:ext cx="294131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B7C"/>
                </a:solidFill>
                <a:latin typeface="Segoe UI"/>
              </a:rPr>
              <a:t>Aborts a sync that would delete more than N% of files.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3453383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078224"/>
            <a:ext cx="2941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Require matching names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08576"/>
            <a:ext cx="294131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B7C"/>
                </a:solidFill>
                <a:latin typeface="Segoe UI"/>
              </a:rPr>
              <a:t>Blocks a sync if source and destination folder names differ.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7784" y="3931920"/>
            <a:ext cx="3453383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3816" y="4078224"/>
            <a:ext cx="2941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Detect renamed 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3816" y="4608576"/>
            <a:ext cx="294131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B7C"/>
                </a:solidFill>
                <a:latin typeface="Segoe UI"/>
              </a:rPr>
              <a:t>Renames become server-side moves — no slow re-upload.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4047" y="3931920"/>
            <a:ext cx="3453383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0079" y="4078224"/>
            <a:ext cx="2941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Verify with checksums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0079" y="4608576"/>
            <a:ext cx="294131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B7C"/>
                </a:solidFill>
                <a:latin typeface="Segoe UI"/>
              </a:rPr>
              <a:t>Compares by hash, not size + time. Catches silent corruption.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803136"/>
            <a:ext cx="6095847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4373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263B"/>
                </a:solidFill>
                <a:latin typeface="Consolas"/>
              </a:rPr>
              <a:t>10</a:t>
            </a:r>
            <a:r>
              <a:rPr sz="1100" b="0">
                <a:solidFill>
                  <a:srgbClr val="5B6B7C"/>
                </a:solidFill>
                <a:latin typeface="Consolas"/>
              </a:rPr>
              <a:t> / 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643737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Consolas"/>
              </a:rPr>
              <a:t>Pawsey Uploader · v1.9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96E12"/>
                </a:solidFill>
                <a:latin typeface="Consolas"/>
              </a:rPr>
              <a:t>—  SET &amp; FORGET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4263B"/>
                </a:solidFill>
                <a:latin typeface="Segoe UI Semibold"/>
              </a:rPr>
              <a:t>Built for long, unattended transfers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74519"/>
            <a:ext cx="3453383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2020824"/>
            <a:ext cx="2941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Auto-restart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2551176"/>
            <a:ext cx="294131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B7C"/>
                </a:solidFill>
                <a:latin typeface="Segoe UI"/>
              </a:rPr>
              <a:t>Recovers from network blips — up to 10 retries with backoff.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7784" y="1874519"/>
            <a:ext cx="3453383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23816" y="2020824"/>
            <a:ext cx="2941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Smart 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3816" y="2551176"/>
            <a:ext cx="294131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B7C"/>
                </a:solidFill>
                <a:latin typeface="Segoe UI"/>
              </a:rPr>
              <a:t>Stops cleanly on real errors (bad keys, missing bucket, quota).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4047" y="1874519"/>
            <a:ext cx="3453383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0079" y="2020824"/>
            <a:ext cx="2941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Heartbeat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0079" y="2551176"/>
            <a:ext cx="294131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B7C"/>
                </a:solidFill>
                <a:latin typeface="Segoe UI"/>
              </a:rPr>
              <a:t>A liveness timestamp so you can confirm it's still alive.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3453383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078224"/>
            <a:ext cx="2941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Verbose logs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08576"/>
            <a:ext cx="294131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B7C"/>
                </a:solidFill>
                <a:latin typeface="Segoe UI"/>
              </a:rPr>
              <a:t>Full per-transfer rclone output written to disk.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7784" y="3931920"/>
            <a:ext cx="3453383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3816" y="4078224"/>
            <a:ext cx="2941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Keeps PC awake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3816" y="4608576"/>
            <a:ext cx="294131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B7C"/>
                </a:solidFill>
                <a:latin typeface="Segoe UI"/>
              </a:rPr>
              <a:t>Prevents sleep while a transfer is running.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4047" y="3931920"/>
            <a:ext cx="3453383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0079" y="4078224"/>
            <a:ext cx="2941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Resume previous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0079" y="4608576"/>
            <a:ext cx="294131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B7C"/>
                </a:solidFill>
                <a:latin typeface="Segoe UI"/>
              </a:rPr>
              <a:t>Reopen the app and continue an interrupted transfer.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803136"/>
            <a:ext cx="6705432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4373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263B"/>
                </a:solidFill>
                <a:latin typeface="Consolas"/>
              </a:rPr>
              <a:t>11</a:t>
            </a:r>
            <a:r>
              <a:rPr sz="1100" b="0">
                <a:solidFill>
                  <a:srgbClr val="5B6B7C"/>
                </a:solidFill>
                <a:latin typeface="Consolas"/>
              </a:rPr>
              <a:t> / 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643737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Consolas"/>
              </a:rPr>
              <a:t>Pawsey Uploader · v1.9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96E12"/>
                </a:solidFill>
                <a:latin typeface="Consolas"/>
              </a:rPr>
              <a:t>—  MANAGE WHAT'S THERE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4263B"/>
                </a:solidFill>
                <a:latin typeface="Segoe UI Semibold"/>
              </a:rPr>
              <a:t>Buckets &amp; Storage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4594" y="1938528"/>
            <a:ext cx="5986130" cy="40690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09186" y="2075688"/>
            <a:ext cx="91440" cy="91440"/>
          </a:xfrm>
          <a:prstGeom prst="ellipse">
            <a:avLst/>
          </a:prstGeom>
          <a:solidFill>
            <a:srgbClr val="E06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64634" y="2075688"/>
            <a:ext cx="91440" cy="91440"/>
          </a:xfrm>
          <a:prstGeom prst="ellipse">
            <a:avLst/>
          </a:prstGeom>
          <a:solidFill>
            <a:srgbClr val="E6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20082" y="2075688"/>
            <a:ext cx="91440" cy="91440"/>
          </a:xfrm>
          <a:prstGeom prst="ellipse">
            <a:avLst/>
          </a:prstGeom>
          <a:solidFill>
            <a:srgbClr val="8CC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6_sto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754" y="2286000"/>
            <a:ext cx="5711810" cy="3611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062471"/>
            <a:ext cx="6812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B6B7C"/>
                </a:solidFill>
                <a:latin typeface="Consolas"/>
              </a:rPr>
              <a:t>Storage tab · browse, share, transfer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965960"/>
            <a:ext cx="372160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1" y="2112264"/>
            <a:ext cx="32095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4263B"/>
                </a:solidFill>
                <a:latin typeface="Segoe UI Semibold"/>
              </a:rPr>
              <a:t>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82711" y="2642615"/>
            <a:ext cx="3209544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Browse, upload, download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Rename / Move — server-side, no re-upload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Copy / Cut / Paste like Explorer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Delete to a recycle bin you can manage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803136"/>
            <a:ext cx="7315017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373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263B"/>
                </a:solidFill>
                <a:latin typeface="Consolas"/>
              </a:rPr>
              <a:t>12</a:t>
            </a:r>
            <a:r>
              <a:rPr sz="1100" b="0">
                <a:solidFill>
                  <a:srgbClr val="5B6B7C"/>
                </a:solidFill>
                <a:latin typeface="Consolas"/>
              </a:rPr>
              <a:t> / 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3737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Consolas"/>
              </a:rPr>
              <a:t>Pawsey Uploader · v1.9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96E12"/>
                </a:solidFill>
                <a:latin typeface="Consolas"/>
              </a:rPr>
              <a:t>—  SHARE WITHOUT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4263B"/>
                </a:solidFill>
                <a:latin typeface="Segoe UI Semibold"/>
              </a:rPr>
              <a:t>Send someone a link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65960"/>
            <a:ext cx="5175504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211226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A single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2642615"/>
            <a:ext cx="46634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One presigned link, copied to your clipboard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Works from any browser — no Pawsey account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You choose how long it stays valid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965960"/>
            <a:ext cx="5175504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28816" y="211226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A folder or bucket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8816" y="2642615"/>
            <a:ext cx="46634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Builds a browsable web page of the contents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View or download any file, or the whole folder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One link opens it; expiry capped at 7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03136"/>
            <a:ext cx="7924601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263B"/>
                </a:solidFill>
                <a:latin typeface="Consolas"/>
              </a:rPr>
              <a:t>13</a:t>
            </a:r>
            <a:r>
              <a:rPr sz="1100" b="0">
                <a:solidFill>
                  <a:srgbClr val="5B6B7C"/>
                </a:solidFill>
                <a:latin typeface="Consolas"/>
              </a:rPr>
              <a:t> /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3737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Consolas"/>
              </a:rPr>
              <a:t>Pawsey Uploader · v1.9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96E12"/>
                </a:solidFill>
                <a:latin typeface="Consolas"/>
              </a:rPr>
              <a:t>—  PROJECT →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4263B"/>
                </a:solidFill>
                <a:latin typeface="Segoe UI Semibold"/>
              </a:rPr>
              <a:t>Send data to another project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32499" y="1938528"/>
            <a:ext cx="3810320" cy="40690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397091" y="2075688"/>
            <a:ext cx="91440" cy="91440"/>
          </a:xfrm>
          <a:prstGeom prst="ellipse">
            <a:avLst/>
          </a:prstGeom>
          <a:solidFill>
            <a:srgbClr val="E06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52539" y="2075688"/>
            <a:ext cx="91440" cy="91440"/>
          </a:xfrm>
          <a:prstGeom prst="ellipse">
            <a:avLst/>
          </a:prstGeom>
          <a:solidFill>
            <a:srgbClr val="E6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07987" y="2075688"/>
            <a:ext cx="91440" cy="91440"/>
          </a:xfrm>
          <a:prstGeom prst="ellipse">
            <a:avLst/>
          </a:prstGeom>
          <a:solidFill>
            <a:srgbClr val="8CC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8_send_to_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9659" y="2286000"/>
            <a:ext cx="3536000" cy="3611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062471"/>
            <a:ext cx="6812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B6B7C"/>
                </a:solidFill>
                <a:latin typeface="Consolas"/>
              </a:rPr>
              <a:t>Storage → Send to another project…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965960"/>
            <a:ext cx="372160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1" y="2112264"/>
            <a:ext cx="32095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4263B"/>
                </a:solidFill>
                <a:latin typeface="Segoe UI Semibold"/>
              </a:rPr>
              <a:t>Copy to a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82711" y="2642615"/>
            <a:ext cx="3209544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Pick destination project + bucket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Copy-only — it never deletes there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“Keep running” survives closing the app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Streams via your PC — use a VM for big 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803136"/>
            <a:ext cx="8534186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373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263B"/>
                </a:solidFill>
                <a:latin typeface="Consolas"/>
              </a:rPr>
              <a:t>14</a:t>
            </a:r>
            <a:r>
              <a:rPr sz="1100" b="0">
                <a:solidFill>
                  <a:srgbClr val="5B6B7C"/>
                </a:solidFill>
                <a:latin typeface="Consolas"/>
              </a:rPr>
              <a:t> / 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3737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Consolas"/>
              </a:rPr>
              <a:t>Pawsey Uploader · v1.9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96E12"/>
                </a:solidFill>
                <a:latin typeface="Consolas"/>
              </a:rPr>
              <a:t>—  KEEP IT RUNNING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4263B"/>
                </a:solidFill>
                <a:latin typeface="Segoe UI Semibold"/>
              </a:rPr>
              <a:t>Background copies &amp; resume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38528"/>
            <a:ext cx="6812280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2075688"/>
            <a:ext cx="91440" cy="91440"/>
          </a:xfrm>
          <a:prstGeom prst="ellipse">
            <a:avLst/>
          </a:prstGeom>
          <a:solidFill>
            <a:srgbClr val="E06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075688"/>
            <a:ext cx="91440" cy="91440"/>
          </a:xfrm>
          <a:prstGeom prst="ellipse">
            <a:avLst/>
          </a:prstGeom>
          <a:solidFill>
            <a:srgbClr val="E6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07008" y="2075688"/>
            <a:ext cx="91440" cy="91440"/>
          </a:xfrm>
          <a:prstGeom prst="ellipse">
            <a:avLst/>
          </a:prstGeom>
          <a:solidFill>
            <a:srgbClr val="8CC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9_background_cop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86000"/>
            <a:ext cx="6537960" cy="3352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803392"/>
            <a:ext cx="6812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B6B7C"/>
                </a:solidFill>
                <a:latin typeface="Consolas"/>
              </a:rPr>
              <a:t>Background copies… 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965960"/>
            <a:ext cx="372160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1" y="2112264"/>
            <a:ext cx="32095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4263B"/>
                </a:solidFill>
                <a:latin typeface="Segoe UI Semibold"/>
              </a:rPr>
              <a:t>Background &amp; resume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82711" y="2642615"/>
            <a:ext cx="3209544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Runs on after you close the app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Interrupted? Reopen → Resume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Resume skips files already copied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Destination full? Free quota, then resume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803136"/>
            <a:ext cx="9143771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373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263B"/>
                </a:solidFill>
                <a:latin typeface="Consolas"/>
              </a:rPr>
              <a:t>15</a:t>
            </a:r>
            <a:r>
              <a:rPr sz="1100" b="0">
                <a:solidFill>
                  <a:srgbClr val="5B6B7C"/>
                </a:solidFill>
                <a:latin typeface="Consolas"/>
              </a:rPr>
              <a:t> / 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3737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Consolas"/>
              </a:rPr>
              <a:t>Pawsey Uploader · v1.9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96E12"/>
                </a:solidFill>
                <a:latin typeface="Consolas"/>
              </a:rPr>
              <a:t>—  POWER USERS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4263B"/>
                </a:solidFill>
                <a:latin typeface="Segoe UI Semibold"/>
              </a:rPr>
              <a:t>The command console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4594" y="1938528"/>
            <a:ext cx="5986130" cy="40690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09186" y="2075688"/>
            <a:ext cx="91440" cy="91440"/>
          </a:xfrm>
          <a:prstGeom prst="ellipse">
            <a:avLst/>
          </a:prstGeom>
          <a:solidFill>
            <a:srgbClr val="E06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64634" y="2075688"/>
            <a:ext cx="91440" cy="91440"/>
          </a:xfrm>
          <a:prstGeom prst="ellipse">
            <a:avLst/>
          </a:prstGeom>
          <a:solidFill>
            <a:srgbClr val="E6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20082" y="2075688"/>
            <a:ext cx="91440" cy="91440"/>
          </a:xfrm>
          <a:prstGeom prst="ellipse">
            <a:avLst/>
          </a:prstGeom>
          <a:solidFill>
            <a:srgbClr val="8CC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0_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754" y="2286000"/>
            <a:ext cx="5711810" cy="3611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062471"/>
            <a:ext cx="6812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B6B7C"/>
                </a:solidFill>
                <a:latin typeface="Consolas"/>
              </a:rPr>
              <a:t>Console tab · live command 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965960"/>
            <a:ext cx="372160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1" y="2112264"/>
            <a:ext cx="32095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4263B"/>
                </a:solidFill>
                <a:latin typeface="Segoe UI Semibold"/>
              </a:rPr>
              <a:t>Console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82711" y="2642615"/>
            <a:ext cx="3209544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Run any rclone or shell command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Watch live, streamed output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Advanced flags the UI doesn't expose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rclone copy projectA: projectB: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803136"/>
            <a:ext cx="9753356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373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263B"/>
                </a:solidFill>
                <a:latin typeface="Consolas"/>
              </a:rPr>
              <a:t>16</a:t>
            </a:r>
            <a:r>
              <a:rPr sz="1100" b="0">
                <a:solidFill>
                  <a:srgbClr val="5B6B7C"/>
                </a:solidFill>
                <a:latin typeface="Consolas"/>
              </a:rPr>
              <a:t> / 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3737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Consolas"/>
              </a:rPr>
              <a:t>Pawsey Uploader · v1.9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96E12"/>
                </a:solidFill>
                <a:latin typeface="Consolas"/>
              </a:rPr>
              <a:t>—  AUDIT TRAIL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4263B"/>
                </a:solidFill>
                <a:latin typeface="Segoe UI Semibold"/>
              </a:rPr>
              <a:t>Nothing happens without a note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4594" y="1938528"/>
            <a:ext cx="5986130" cy="40690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09186" y="2075688"/>
            <a:ext cx="91440" cy="91440"/>
          </a:xfrm>
          <a:prstGeom prst="ellipse">
            <a:avLst/>
          </a:prstGeom>
          <a:solidFill>
            <a:srgbClr val="E06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64634" y="2075688"/>
            <a:ext cx="91440" cy="91440"/>
          </a:xfrm>
          <a:prstGeom prst="ellipse">
            <a:avLst/>
          </a:prstGeom>
          <a:solidFill>
            <a:srgbClr val="E6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20082" y="2075688"/>
            <a:ext cx="91440" cy="91440"/>
          </a:xfrm>
          <a:prstGeom prst="ellipse">
            <a:avLst/>
          </a:prstGeom>
          <a:solidFill>
            <a:srgbClr val="8CC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1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754" y="2286000"/>
            <a:ext cx="5711810" cy="3611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062471"/>
            <a:ext cx="6812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B6B7C"/>
                </a:solidFill>
                <a:latin typeface="Consolas"/>
              </a:rPr>
              <a:t>History tab · audit log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965960"/>
            <a:ext cx="372160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1" y="2112264"/>
            <a:ext cx="32095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4263B"/>
                </a:solidFill>
                <a:latin typeface="Segoe UI Semibold"/>
              </a:rPr>
              <a:t>Audit trail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82711" y="2642615"/>
            <a:ext cx="3209544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Every transfer, delete, rename, share is logged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Each entry keeps your note, source, dest, result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The note is mandatory — no note, no action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96E12"/>
                </a:solidFill>
                <a:latin typeface="Segoe UI"/>
              </a:rPr>
              <a:t>▪  </a:t>
            </a:r>
            <a:r>
              <a:rPr sz="1150" b="0">
                <a:solidFill>
                  <a:srgbClr val="5B6B7C"/>
                </a:solidFill>
                <a:latin typeface="Segoe UI"/>
              </a:rPr>
              <a:t>Open log folder for full verbose logs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803136"/>
            <a:ext cx="10362940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373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263B"/>
                </a:solidFill>
                <a:latin typeface="Consolas"/>
              </a:rPr>
              <a:t>17</a:t>
            </a:r>
            <a:r>
              <a:rPr sz="1100" b="0">
                <a:solidFill>
                  <a:srgbClr val="5B6B7C"/>
                </a:solidFill>
                <a:latin typeface="Consolas"/>
              </a:rPr>
              <a:t> / 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3737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Consolas"/>
              </a:rPr>
              <a:t>Pawsey Uploader · v1.9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96E12"/>
                </a:solidFill>
                <a:latin typeface="Consolas"/>
              </a:rPr>
              <a:t>—  KEEP THESE IN MIND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4263B"/>
                </a:solidFill>
                <a:latin typeface="Segoe UI Semibold"/>
              </a:rPr>
              <a:t>Golden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C96E12"/>
                </a:solidFill>
                <a:latin typeface="Segoe UI"/>
              </a:rPr>
              <a:t>▪  </a:t>
            </a:r>
            <a:r>
              <a:rPr sz="1300" b="0">
                <a:solidFill>
                  <a:srgbClr val="5B6B7C"/>
                </a:solidFill>
                <a:latin typeface="Segoe UI"/>
              </a:rPr>
              <a:t>Copy is the safe default — it never deletes.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C96E12"/>
                </a:solidFill>
                <a:latin typeface="Segoe UI"/>
              </a:rPr>
              <a:t>▪  </a:t>
            </a:r>
            <a:r>
              <a:rPr sz="1300" b="0">
                <a:solidFill>
                  <a:srgbClr val="5B6B7C"/>
                </a:solidFill>
                <a:latin typeface="Segoe UI"/>
              </a:rPr>
              <a:t>Read the blue “Files will be placed under…” line every time.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C96E12"/>
                </a:solidFill>
                <a:latin typeface="Segoe UI"/>
              </a:rPr>
              <a:t>▪  </a:t>
            </a:r>
            <a:r>
              <a:rPr sz="1300" b="0">
                <a:solidFill>
                  <a:srgbClr val="5B6B7C"/>
                </a:solidFill>
                <a:latin typeface="Segoe UI"/>
              </a:rPr>
              <a:t>Mirror and Two-way can delete — keep the recycle bin on.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C96E12"/>
                </a:solidFill>
                <a:latin typeface="Segoe UI"/>
              </a:rPr>
              <a:t>▪  </a:t>
            </a:r>
            <a:r>
              <a:rPr sz="1300" b="0">
                <a:solidFill>
                  <a:srgbClr val="5B6B7C"/>
                </a:solidFill>
                <a:latin typeface="Segoe UI"/>
              </a:rPr>
              <a:t>For two-way sync, reuse the same folder &amp; Pawsey path.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C96E12"/>
                </a:solidFill>
                <a:latin typeface="Segoe UI"/>
              </a:rPr>
              <a:t>▪  </a:t>
            </a:r>
            <a:r>
              <a:rPr sz="1300" b="0">
                <a:solidFill>
                  <a:srgbClr val="5B6B7C"/>
                </a:solidFill>
                <a:latin typeface="Segoe UI"/>
              </a:rPr>
              <a:t>Rename a big folder via Storage → Rename / Move.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72784" y="201168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C96E12"/>
                </a:solidFill>
                <a:latin typeface="Segoe UI"/>
              </a:rPr>
              <a:t>▪  </a:t>
            </a:r>
            <a:r>
              <a:rPr sz="1300" b="0">
                <a:solidFill>
                  <a:srgbClr val="5B6B7C"/>
                </a:solidFill>
                <a:latin typeface="Segoe UI"/>
              </a:rPr>
              <a:t>“Send to another project” is copy-only — never deletes.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C96E12"/>
                </a:solidFill>
                <a:latin typeface="Segoe UI"/>
              </a:rPr>
              <a:t>▪  </a:t>
            </a:r>
            <a:r>
              <a:rPr sz="1300" b="0">
                <a:solidFill>
                  <a:srgbClr val="5B6B7C"/>
                </a:solidFill>
                <a:latin typeface="Segoe UI"/>
              </a:rPr>
              <a:t>Tick “Keep running” for big cross-project copies.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C96E12"/>
                </a:solidFill>
                <a:latin typeface="Segoe UI"/>
              </a:rPr>
              <a:t>▪  </a:t>
            </a:r>
            <a:r>
              <a:rPr sz="1300" b="0">
                <a:solidFill>
                  <a:srgbClr val="5B6B7C"/>
                </a:solidFill>
                <a:latin typeface="Segoe UI"/>
              </a:rPr>
              <a:t>Resume interrupted copies from “Background copies…”.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C96E12"/>
                </a:solidFill>
                <a:latin typeface="Segoe UI"/>
              </a:rPr>
              <a:t>▪  </a:t>
            </a:r>
            <a:r>
              <a:rPr sz="1300" b="0">
                <a:solidFill>
                  <a:srgbClr val="5B6B7C"/>
                </a:solidFill>
                <a:latin typeface="Segoe UI"/>
              </a:rPr>
              <a:t>Check the destination has enough quota first.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C96E12"/>
                </a:solidFill>
                <a:latin typeface="Segoe UI"/>
              </a:rPr>
              <a:t>▪  </a:t>
            </a:r>
            <a:r>
              <a:rPr sz="1300" b="0">
                <a:solidFill>
                  <a:srgbClr val="5B6B7C"/>
                </a:solidFill>
                <a:latin typeface="Segoe UI"/>
              </a:rPr>
              <a:t>Every action needs a note — it's your audit trail.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0972525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263B"/>
                </a:solidFill>
                <a:latin typeface="Consolas"/>
              </a:rPr>
              <a:t>18</a:t>
            </a:r>
            <a:r>
              <a:rPr sz="1100" b="0">
                <a:solidFill>
                  <a:srgbClr val="5B6B7C"/>
                </a:solidFill>
                <a:latin typeface="Consolas"/>
              </a:rPr>
              <a:t>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43737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Consolas"/>
              </a:rPr>
              <a:t>Pawsey Uploader · v1.9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96E12"/>
                </a:solidFill>
                <a:latin typeface="Consolas"/>
              </a:rPr>
              <a:t>—  IF SOMETHING LOOKS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4263B"/>
                </a:solidFill>
                <a:latin typeface="Segoe UI Semibold"/>
              </a:rPr>
              <a:t>Troubleshooting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74519"/>
            <a:ext cx="3453383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2020824"/>
            <a:ext cx="2941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rclone not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2551176"/>
            <a:ext cx="294131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B7C"/>
                </a:solidFill>
                <a:latin typeface="Segoe UI"/>
              </a:rPr>
              <a:t>Point Settings → Path to rclone at rclone.exe, or install rclone and restart.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7784" y="1874519"/>
            <a:ext cx="3453383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23816" y="2020824"/>
            <a:ext cx="2941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403 UserSuspended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3816" y="2551176"/>
            <a:ext cx="294131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B7C"/>
                </a:solidFill>
                <a:latin typeface="Segoe UI"/>
              </a:rPr>
              <a:t>Pawsey disabled your keys. Email help@pawsey.org.au — no setting fixes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4047" y="1874519"/>
            <a:ext cx="3453383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0079" y="2020824"/>
            <a:ext cx="2941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403 QuotaExceeded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0079" y="2551176"/>
            <a:ext cx="294131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B7C"/>
                </a:solidFill>
                <a:latin typeface="Segoe UI"/>
              </a:rPr>
              <a:t>The destination project is out of storage. Free space or raise quota, then resume.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3453383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078224"/>
            <a:ext cx="2941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Transfer stopped halfway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08576"/>
            <a:ext cx="294131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B7C"/>
                </a:solidFill>
                <a:latin typeface="Segoe UI"/>
              </a:rPr>
              <a:t>Reopen → Resume previous… (or Background copies…). Done files are skipped.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7784" y="3931920"/>
            <a:ext cx="3453383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3816" y="4078224"/>
            <a:ext cx="2941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Must run --resync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3816" y="4608576"/>
            <a:ext cx="294131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B7C"/>
                </a:solidFill>
                <a:latin typeface="Segoe UI"/>
              </a:rPr>
              <a:t>A two-way baseline was lost. Re-run the pair — the app rebuilds it safely.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4047" y="3931920"/>
            <a:ext cx="3453383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0079" y="4078224"/>
            <a:ext cx="2941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Cross-project is slow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0079" y="4608576"/>
            <a:ext cx="294131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B7C"/>
                </a:solidFill>
                <a:latin typeface="Segoe UI"/>
              </a:rPr>
              <a:t>It streams through your PC. For big datasets, run it on a Pawsey/Nimbus VM.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803136"/>
            <a:ext cx="11582110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4373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263B"/>
                </a:solidFill>
                <a:latin typeface="Consolas"/>
              </a:rPr>
              <a:t>19</a:t>
            </a:r>
            <a:r>
              <a:rPr sz="1100" b="0">
                <a:solidFill>
                  <a:srgbClr val="5B6B7C"/>
                </a:solidFill>
                <a:latin typeface="Consolas"/>
              </a:rPr>
              <a:t> / 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643737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Consolas"/>
              </a:rPr>
              <a:t>Pawsey Uploader · v1.9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96E12"/>
                </a:solidFill>
                <a:latin typeface="Consolas"/>
              </a:rPr>
              <a:t>—  SUGGESTED LIVE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4263B"/>
                </a:solidFill>
                <a:latin typeface="Segoe UI Semibold"/>
              </a:rPr>
              <a:t>Let's see it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57400"/>
            <a:ext cx="6126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C96E12"/>
                </a:solidFill>
                <a:latin typeface="Segoe UI Semibold"/>
              </a:rPr>
              <a:t>1  </a:t>
            </a:r>
            <a:r>
              <a:rPr sz="1400" b="0">
                <a:solidFill>
                  <a:srgbClr val="14263B"/>
                </a:solidFill>
                <a:latin typeface="Segoe UI"/>
              </a:rPr>
              <a:t>Settings → Test connection (green tick)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C96E12"/>
                </a:solidFill>
                <a:latin typeface="Segoe UI Semibold"/>
              </a:rPr>
              <a:t>2  </a:t>
            </a:r>
            <a:r>
              <a:rPr sz="1400" b="0">
                <a:solidFill>
                  <a:srgbClr val="5B6B7C"/>
                </a:solidFill>
                <a:latin typeface="Segoe UI"/>
              </a:rPr>
              <a:t>Transfer → Copy a small folder; watch progress + note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C96E12"/>
                </a:solidFill>
                <a:latin typeface="Segoe UI Semibold"/>
              </a:rPr>
              <a:t>3  </a:t>
            </a:r>
            <a:r>
              <a:rPr sz="1400" b="0">
                <a:solidFill>
                  <a:srgbClr val="5B6B7C"/>
                </a:solidFill>
                <a:latin typeface="Segoe UI"/>
              </a:rPr>
              <a:t>Storage → show it landed; Rename / Move; Generate link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C96E12"/>
                </a:solidFill>
                <a:latin typeface="Segoe UI Semibold"/>
              </a:rPr>
              <a:t>4  </a:t>
            </a:r>
            <a:r>
              <a:rPr sz="1400" b="0">
                <a:solidFill>
                  <a:srgbClr val="5B6B7C"/>
                </a:solidFill>
                <a:latin typeface="Segoe UI"/>
              </a:rPr>
              <a:t>Storage → Send to another project (background) → close &amp; reopen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C96E12"/>
                </a:solidFill>
                <a:latin typeface="Segoe UI Semibold"/>
              </a:rPr>
              <a:t>5  </a:t>
            </a:r>
            <a:r>
              <a:rPr sz="1400" b="0">
                <a:solidFill>
                  <a:srgbClr val="5B6B7C"/>
                </a:solidFill>
                <a:latin typeface="Segoe UI"/>
              </a:rPr>
              <a:t>Background copies… → show status / Resume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C96E12"/>
                </a:solidFill>
                <a:latin typeface="Segoe UI Semibold"/>
              </a:rPr>
              <a:t>6  </a:t>
            </a:r>
            <a:r>
              <a:rPr sz="1400" b="0">
                <a:solidFill>
                  <a:srgbClr val="5B6B7C"/>
                </a:solidFill>
                <a:latin typeface="Segoe UI"/>
              </a:rPr>
              <a:t>History → the audit trail of everything you just did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0" y="2194560"/>
            <a:ext cx="420624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79792" y="2340864"/>
            <a:ext cx="36941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14263B"/>
                </a:solidFill>
                <a:latin typeface="Segoe UI Semibold"/>
              </a:rPr>
              <a:t>Remember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79792" y="2871215"/>
            <a:ext cx="369417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B7C"/>
                </a:solidFill>
                <a:latin typeface="Segoe UI"/>
              </a:rPr>
              <a:t>Start with Copy. Write a note. Read the blue line.
Everything else — Mirror, Two-way, sharing, cross-project copies — builds on those habits.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C96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373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263B"/>
                </a:solidFill>
                <a:latin typeface="Consolas"/>
              </a:rPr>
              <a:t>20</a:t>
            </a:r>
            <a:r>
              <a:rPr sz="1100" b="0">
                <a:solidFill>
                  <a:srgbClr val="5B6B7C"/>
                </a:solidFill>
                <a:latin typeface="Consolas"/>
              </a:rPr>
              <a:t> /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3737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B7C"/>
                </a:solidFill>
                <a:latin typeface="Consolas"/>
              </a:rPr>
              <a:t>Pawsey Uploader · v1.9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